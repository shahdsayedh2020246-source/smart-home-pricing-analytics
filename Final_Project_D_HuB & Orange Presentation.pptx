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7" d="100"/>
          <a:sy n="67" d="100"/>
        </p:scale>
        <p:origin x="83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84643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931"/>
        </a:solidFill>
        <a:effectLst/>
      </p:bgPr>
    </p:bg>
    <p:spTree>
      <p:nvGrpSpPr>
        <p:cNvPr id="1" name=""/>
        <p:cNvGrpSpPr/>
        <p:nvPr/>
      </p:nvGrpSpPr>
      <p:grpSpPr>
        <a:xfrm>
          <a:off x="0" y="0"/>
          <a:ext cx="0" cy="0"/>
          <a:chOff x="0" y="0"/>
          <a:chExt cx="0" cy="0"/>
        </a:xfrm>
      </p:grpSpPr>
      <p:sp>
        <p:nvSpPr>
          <p:cNvPr id="2" name="Shape 0"/>
          <p:cNvSpPr/>
          <p:nvPr/>
        </p:nvSpPr>
        <p:spPr>
          <a:xfrm>
            <a:off x="9784080" y="-1280160"/>
            <a:ext cx="4206240" cy="4206240"/>
          </a:xfrm>
          <a:prstGeom prst="ellipse">
            <a:avLst/>
          </a:prstGeom>
          <a:solidFill>
            <a:srgbClr val="0D1C78"/>
          </a:solidFill>
          <a:ln/>
        </p:spPr>
      </p:sp>
      <p:sp>
        <p:nvSpPr>
          <p:cNvPr id="3" name="Shape 1"/>
          <p:cNvSpPr/>
          <p:nvPr/>
        </p:nvSpPr>
        <p:spPr>
          <a:xfrm>
            <a:off x="-1463040" y="4663440"/>
            <a:ext cx="3657600" cy="3657600"/>
          </a:xfrm>
          <a:prstGeom prst="ellipse">
            <a:avLst/>
          </a:prstGeom>
          <a:solidFill>
            <a:srgbClr val="0D1C78"/>
          </a:solidFill>
          <a:ln/>
        </p:spPr>
      </p:sp>
      <p:sp>
        <p:nvSpPr>
          <p:cNvPr id="4" name="Shape 2"/>
          <p:cNvSpPr/>
          <p:nvPr/>
        </p:nvSpPr>
        <p:spPr>
          <a:xfrm>
            <a:off x="5468112" y="1051560"/>
            <a:ext cx="868680" cy="868680"/>
          </a:xfrm>
          <a:prstGeom prst="ellipse">
            <a:avLst/>
          </a:prstGeom>
          <a:solidFill>
            <a:srgbClr val="B48C36"/>
          </a:solidFill>
          <a:ln/>
        </p:spPr>
      </p:sp>
      <p:pic>
        <p:nvPicPr>
          <p:cNvPr id="5" name="Image 0" descr="icon_home_navy.png"/>
          <p:cNvPicPr>
            <a:picLocks noChangeAspect="1"/>
          </p:cNvPicPr>
          <p:nvPr/>
        </p:nvPicPr>
        <p:blipFill>
          <a:blip r:embed="rId3"/>
          <a:stretch>
            <a:fillRect/>
          </a:stretch>
        </p:blipFill>
        <p:spPr>
          <a:xfrm>
            <a:off x="5650992" y="1234440"/>
            <a:ext cx="502920" cy="502920"/>
          </a:xfrm>
          <a:prstGeom prst="rect">
            <a:avLst/>
          </a:prstGeom>
        </p:spPr>
      </p:pic>
      <p:sp>
        <p:nvSpPr>
          <p:cNvPr id="6" name="Text 3"/>
          <p:cNvSpPr/>
          <p:nvPr/>
        </p:nvSpPr>
        <p:spPr>
          <a:xfrm>
            <a:off x="914400" y="2148840"/>
            <a:ext cx="10360152" cy="914400"/>
          </a:xfrm>
          <a:prstGeom prst="rect">
            <a:avLst/>
          </a:prstGeom>
          <a:noFill/>
          <a:ln/>
        </p:spPr>
        <p:txBody>
          <a:bodyPr wrap="square" lIns="0" tIns="0" rIns="0" bIns="0" rtlCol="0" anchor="ctr"/>
          <a:lstStyle/>
          <a:p>
            <a:pPr marL="0" indent="0" algn="ctr">
              <a:buNone/>
            </a:pPr>
            <a:r>
              <a:rPr lang="en-US" sz="4400" b="1" dirty="0">
                <a:solidFill>
                  <a:srgbClr val="D4AF6A"/>
                </a:solidFill>
                <a:latin typeface="Cambria" pitchFamily="34" charset="0"/>
                <a:ea typeface="Cambria" pitchFamily="34" charset="-122"/>
                <a:cs typeface="Cambria" pitchFamily="34" charset="-120"/>
              </a:rPr>
              <a:t>SmartHome Pricing Analytics</a:t>
            </a:r>
            <a:endParaRPr lang="en-US" sz="4400" dirty="0"/>
          </a:p>
        </p:txBody>
      </p:sp>
      <p:sp>
        <p:nvSpPr>
          <p:cNvPr id="7" name="Text 4"/>
          <p:cNvSpPr/>
          <p:nvPr/>
        </p:nvSpPr>
        <p:spPr>
          <a:xfrm>
            <a:off x="1280160" y="3063240"/>
            <a:ext cx="9628632" cy="822960"/>
          </a:xfrm>
          <a:prstGeom prst="rect">
            <a:avLst/>
          </a:prstGeom>
          <a:noFill/>
          <a:ln/>
        </p:spPr>
        <p:txBody>
          <a:bodyPr wrap="square" lIns="0" tIns="0" rIns="0" bIns="0" rtlCol="0" anchor="ctr"/>
          <a:lstStyle/>
          <a:p>
            <a:pPr marL="0" indent="0" algn="ctr">
              <a:lnSpc>
                <a:spcPct val="120000"/>
              </a:lnSpc>
              <a:buNone/>
            </a:pPr>
            <a:r>
              <a:rPr lang="en-US" sz="1500" i="1" dirty="0">
                <a:solidFill>
                  <a:srgbClr val="FFFFFF"/>
                </a:solidFill>
                <a:latin typeface="Calibri" pitchFamily="34" charset="0"/>
                <a:ea typeface="Calibri" pitchFamily="34" charset="-122"/>
                <a:cs typeface="Calibri" pitchFamily="34" charset="-120"/>
              </a:rPr>
              <a:t>Leveraging 79 property features — from size and quality to location and age —</a:t>
            </a:r>
            <a:endParaRPr lang="en-US" sz="1500" dirty="0"/>
          </a:p>
          <a:p>
            <a:pPr marL="0" indent="0" algn="ctr">
              <a:lnSpc>
                <a:spcPct val="120000"/>
              </a:lnSpc>
              <a:buNone/>
            </a:pPr>
            <a:r>
              <a:rPr lang="en-US" sz="1500" i="1" dirty="0">
                <a:solidFill>
                  <a:srgbClr val="FFFFFF"/>
                </a:solidFill>
                <a:latin typeface="Calibri" pitchFamily="34" charset="0"/>
                <a:ea typeface="Calibri" pitchFamily="34" charset="-122"/>
                <a:cs typeface="Calibri" pitchFamily="34" charset="-120"/>
              </a:rPr>
              <a:t>to analyze and predict home sale prices across the Ames housing market</a:t>
            </a:r>
            <a:endParaRPr lang="en-US" sz="1500" dirty="0"/>
          </a:p>
        </p:txBody>
      </p:sp>
      <p:sp>
        <p:nvSpPr>
          <p:cNvPr id="8" name="Shape 5"/>
          <p:cNvSpPr/>
          <p:nvPr/>
        </p:nvSpPr>
        <p:spPr>
          <a:xfrm>
            <a:off x="4718304" y="4160520"/>
            <a:ext cx="2743200" cy="0"/>
          </a:xfrm>
          <a:prstGeom prst="line">
            <a:avLst/>
          </a:prstGeom>
          <a:noFill/>
          <a:ln w="15875">
            <a:solidFill>
              <a:srgbClr val="B48C36"/>
            </a:solidFill>
            <a:prstDash val="solid"/>
          </a:ln>
        </p:spPr>
      </p:sp>
      <p:sp>
        <p:nvSpPr>
          <p:cNvPr id="9" name="Text 6"/>
          <p:cNvSpPr/>
          <p:nvPr/>
        </p:nvSpPr>
        <p:spPr>
          <a:xfrm>
            <a:off x="914400" y="4343400"/>
            <a:ext cx="10360152" cy="365760"/>
          </a:xfrm>
          <a:prstGeom prst="rect">
            <a:avLst/>
          </a:prstGeom>
          <a:noFill/>
          <a:ln/>
        </p:spPr>
        <p:txBody>
          <a:bodyPr wrap="square" lIns="0" tIns="0" rIns="0" bIns="0" rtlCol="0" anchor="ctr"/>
          <a:lstStyle/>
          <a:p>
            <a:pPr marL="0" indent="0" algn="ctr">
              <a:buNone/>
            </a:pPr>
            <a:r>
              <a:rPr lang="en-US" sz="1250" b="1" kern="0" spc="200" dirty="0">
                <a:solidFill>
                  <a:srgbClr val="B48C36"/>
                </a:solidFill>
                <a:latin typeface="Calibri" pitchFamily="34" charset="0"/>
                <a:ea typeface="Calibri" pitchFamily="34" charset="-122"/>
                <a:cs typeface="Calibri" pitchFamily="34" charset="-120"/>
              </a:rPr>
              <a:t>AI-ASSISTED DATA ANALYTICS FINAL PROJECT</a:t>
            </a:r>
            <a:endParaRPr lang="en-US" sz="1250" dirty="0"/>
          </a:p>
        </p:txBody>
      </p:sp>
      <p:sp>
        <p:nvSpPr>
          <p:cNvPr id="10" name="Text 7"/>
          <p:cNvSpPr/>
          <p:nvPr/>
        </p:nvSpPr>
        <p:spPr>
          <a:xfrm>
            <a:off x="914400" y="5989320"/>
            <a:ext cx="10360152" cy="365760"/>
          </a:xfrm>
          <a:prstGeom prst="rect">
            <a:avLst/>
          </a:prstGeom>
          <a:noFill/>
          <a:ln/>
        </p:spPr>
        <p:txBody>
          <a:bodyPr wrap="square" lIns="0" tIns="0" rIns="0" bIns="0" rtlCol="0" anchor="ctr"/>
          <a:lstStyle/>
          <a:p>
            <a:pPr marL="0" indent="0" algn="ctr">
              <a:buNone/>
            </a:pPr>
            <a:r>
              <a:rPr lang="en-US" sz="1100" dirty="0">
                <a:solidFill>
                  <a:srgbClr val="9AA5D1"/>
                </a:solidFill>
                <a:latin typeface="Calibri" pitchFamily="34" charset="0"/>
                <a:ea typeface="Calibri" pitchFamily="34" charset="-122"/>
                <a:cs typeface="Calibri" pitchFamily="34" charset="-120"/>
              </a:rPr>
              <a:t>Data Cleaning • Feature Engineering • Machine Learning • Power BI Dashboard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EDED"/>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34440"/>
          </a:xfrm>
          <a:prstGeom prst="rect">
            <a:avLst/>
          </a:prstGeom>
          <a:solidFill>
            <a:srgbClr val="0D1C78"/>
          </a:solidFill>
          <a:ln/>
        </p:spPr>
      </p:sp>
      <p:sp>
        <p:nvSpPr>
          <p:cNvPr id="3" name="Text 1"/>
          <p:cNvSpPr/>
          <p:nvPr/>
        </p:nvSpPr>
        <p:spPr>
          <a:xfrm>
            <a:off x="548640" y="201168"/>
            <a:ext cx="10515600" cy="566928"/>
          </a:xfrm>
          <a:prstGeom prst="rect">
            <a:avLst/>
          </a:prstGeom>
          <a:noFill/>
          <a:ln/>
        </p:spPr>
        <p:txBody>
          <a:bodyPr wrap="square" lIns="0" tIns="0" rIns="0" bIns="0" rtlCol="0" anchor="ctr"/>
          <a:lstStyle/>
          <a:p>
            <a:pPr marL="0" indent="0" algn="l">
              <a:buNone/>
            </a:pPr>
            <a:r>
              <a:rPr lang="en-US" sz="3000" b="1" dirty="0">
                <a:solidFill>
                  <a:srgbClr val="D4AF6A"/>
                </a:solidFill>
                <a:latin typeface="Cambria" pitchFamily="34" charset="0"/>
                <a:ea typeface="Cambria" pitchFamily="34" charset="-122"/>
                <a:cs typeface="Cambria" pitchFamily="34" charset="-120"/>
              </a:rPr>
              <a:t>What We'll Cover</a:t>
            </a:r>
            <a:endParaRPr lang="en-US" sz="3000" dirty="0"/>
          </a:p>
        </p:txBody>
      </p:sp>
      <p:sp>
        <p:nvSpPr>
          <p:cNvPr id="4" name="Text 2"/>
          <p:cNvSpPr/>
          <p:nvPr/>
        </p:nvSpPr>
        <p:spPr>
          <a:xfrm>
            <a:off x="548640" y="749808"/>
            <a:ext cx="10789920" cy="365760"/>
          </a:xfrm>
          <a:prstGeom prst="rect">
            <a:avLst/>
          </a:prstGeom>
          <a:noFill/>
          <a:ln/>
        </p:spPr>
        <p:txBody>
          <a:bodyPr wrap="square" lIns="0" tIns="0" rIns="0" bIns="0" rtlCol="0" anchor="ctr"/>
          <a:lstStyle/>
          <a:p>
            <a:pPr marL="0" indent="0" algn="l">
              <a:buNone/>
            </a:pPr>
            <a:r>
              <a:rPr lang="en-US" sz="1300" i="1" dirty="0">
                <a:solidFill>
                  <a:srgbClr val="FFFFFF"/>
                </a:solidFill>
                <a:latin typeface="Calibri" pitchFamily="34" charset="0"/>
                <a:ea typeface="Calibri" pitchFamily="34" charset="-122"/>
                <a:cs typeface="Calibri" pitchFamily="34" charset="-120"/>
              </a:rPr>
              <a:t>From raw data to a decision-ready dashboard</a:t>
            </a:r>
            <a:endParaRPr lang="en-US" sz="1300" dirty="0"/>
          </a:p>
        </p:txBody>
      </p:sp>
      <p:sp>
        <p:nvSpPr>
          <p:cNvPr id="5" name="Shape 3"/>
          <p:cNvSpPr/>
          <p:nvPr/>
        </p:nvSpPr>
        <p:spPr>
          <a:xfrm>
            <a:off x="548640" y="1600200"/>
            <a:ext cx="5349240" cy="1481328"/>
          </a:xfrm>
          <a:prstGeom prst="roundRect">
            <a:avLst>
              <a:gd name="adj" fmla="val 4938"/>
            </a:avLst>
          </a:prstGeom>
          <a:solidFill>
            <a:srgbClr val="FFFFFF"/>
          </a:solidFill>
          <a:ln w="9525">
            <a:solidFill>
              <a:srgbClr val="DDDCDC"/>
            </a:solidFill>
            <a:prstDash val="solid"/>
          </a:ln>
        </p:spPr>
      </p:sp>
      <p:sp>
        <p:nvSpPr>
          <p:cNvPr id="6" name="Shape 4"/>
          <p:cNvSpPr/>
          <p:nvPr/>
        </p:nvSpPr>
        <p:spPr>
          <a:xfrm>
            <a:off x="777240" y="2057400"/>
            <a:ext cx="566928" cy="566928"/>
          </a:xfrm>
          <a:prstGeom prst="ellipse">
            <a:avLst/>
          </a:prstGeom>
          <a:solidFill>
            <a:srgbClr val="B48C36"/>
          </a:solidFill>
          <a:ln/>
        </p:spPr>
      </p:sp>
      <p:pic>
        <p:nvPicPr>
          <p:cNvPr id="7" name="Image 0" descr="icon_database_white.png"/>
          <p:cNvPicPr>
            <a:picLocks noChangeAspect="1"/>
          </p:cNvPicPr>
          <p:nvPr/>
        </p:nvPicPr>
        <p:blipFill>
          <a:blip r:embed="rId3"/>
          <a:stretch>
            <a:fillRect/>
          </a:stretch>
        </p:blipFill>
        <p:spPr>
          <a:xfrm>
            <a:off x="896112" y="2176272"/>
            <a:ext cx="329184" cy="329184"/>
          </a:xfrm>
          <a:prstGeom prst="rect">
            <a:avLst/>
          </a:prstGeom>
        </p:spPr>
      </p:pic>
      <p:sp>
        <p:nvSpPr>
          <p:cNvPr id="8" name="Text 5"/>
          <p:cNvSpPr/>
          <p:nvPr/>
        </p:nvSpPr>
        <p:spPr>
          <a:xfrm>
            <a:off x="1508760" y="1801368"/>
            <a:ext cx="4160520" cy="384048"/>
          </a:xfrm>
          <a:prstGeom prst="rect">
            <a:avLst/>
          </a:prstGeom>
          <a:noFill/>
          <a:ln/>
        </p:spPr>
        <p:txBody>
          <a:bodyPr wrap="square" lIns="0" tIns="0" rIns="0" bIns="0" rtlCol="0" anchor="ctr"/>
          <a:lstStyle/>
          <a:p>
            <a:pPr marL="0" indent="0">
              <a:buNone/>
            </a:pPr>
            <a:r>
              <a:rPr lang="en-US" sz="1500" b="1" dirty="0">
                <a:solidFill>
                  <a:srgbClr val="0D1C78"/>
                </a:solidFill>
                <a:latin typeface="Cambria" pitchFamily="34" charset="0"/>
                <a:ea typeface="Cambria" pitchFamily="34" charset="-122"/>
                <a:cs typeface="Cambria" pitchFamily="34" charset="-120"/>
              </a:rPr>
              <a:t>The Dataset</a:t>
            </a:r>
            <a:endParaRPr lang="en-US" sz="1500" dirty="0"/>
          </a:p>
        </p:txBody>
      </p:sp>
      <p:sp>
        <p:nvSpPr>
          <p:cNvPr id="9" name="Text 6"/>
          <p:cNvSpPr/>
          <p:nvPr/>
        </p:nvSpPr>
        <p:spPr>
          <a:xfrm>
            <a:off x="1508760" y="2221992"/>
            <a:ext cx="4160520" cy="685800"/>
          </a:xfrm>
          <a:prstGeom prst="rect">
            <a:avLst/>
          </a:prstGeom>
          <a:noFill/>
          <a:ln/>
        </p:spPr>
        <p:txBody>
          <a:bodyPr wrap="square" lIns="0" tIns="0" rIns="0" bIns="0" rtlCol="0" anchor="ctr"/>
          <a:lstStyle/>
          <a:p>
            <a:pPr marL="0" indent="0">
              <a:lnSpc>
                <a:spcPct val="115000"/>
              </a:lnSpc>
              <a:buNone/>
            </a:pPr>
            <a:r>
              <a:rPr lang="en-US" sz="1150" dirty="0">
                <a:solidFill>
                  <a:srgbClr val="6B7280"/>
                </a:solidFill>
                <a:latin typeface="Calibri" pitchFamily="34" charset="0"/>
                <a:ea typeface="Calibri" pitchFamily="34" charset="-122"/>
                <a:cs typeface="Calibri" pitchFamily="34" charset="-120"/>
              </a:rPr>
              <a:t>Ames Housing — 1,460 homes, 79 features</a:t>
            </a:r>
            <a:endParaRPr lang="en-US" sz="1150" dirty="0"/>
          </a:p>
        </p:txBody>
      </p:sp>
      <p:sp>
        <p:nvSpPr>
          <p:cNvPr id="10" name="Shape 7"/>
          <p:cNvSpPr/>
          <p:nvPr/>
        </p:nvSpPr>
        <p:spPr>
          <a:xfrm>
            <a:off x="6217920" y="1600200"/>
            <a:ext cx="5349240" cy="1481328"/>
          </a:xfrm>
          <a:prstGeom prst="roundRect">
            <a:avLst>
              <a:gd name="adj" fmla="val 4938"/>
            </a:avLst>
          </a:prstGeom>
          <a:solidFill>
            <a:srgbClr val="FFFFFF"/>
          </a:solidFill>
          <a:ln w="9525">
            <a:solidFill>
              <a:srgbClr val="DDDCDC"/>
            </a:solidFill>
            <a:prstDash val="solid"/>
          </a:ln>
        </p:spPr>
      </p:sp>
      <p:sp>
        <p:nvSpPr>
          <p:cNvPr id="11" name="Shape 8"/>
          <p:cNvSpPr/>
          <p:nvPr/>
        </p:nvSpPr>
        <p:spPr>
          <a:xfrm>
            <a:off x="6446520" y="2057400"/>
            <a:ext cx="566928" cy="566928"/>
          </a:xfrm>
          <a:prstGeom prst="ellipse">
            <a:avLst/>
          </a:prstGeom>
          <a:solidFill>
            <a:srgbClr val="B48C36"/>
          </a:solidFill>
          <a:ln/>
        </p:spPr>
      </p:sp>
      <p:pic>
        <p:nvPicPr>
          <p:cNvPr id="12" name="Image 1" descr="icon_tool_white.png"/>
          <p:cNvPicPr>
            <a:picLocks noChangeAspect="1"/>
          </p:cNvPicPr>
          <p:nvPr/>
        </p:nvPicPr>
        <p:blipFill>
          <a:blip r:embed="rId4"/>
          <a:stretch>
            <a:fillRect/>
          </a:stretch>
        </p:blipFill>
        <p:spPr>
          <a:xfrm>
            <a:off x="6565392" y="2176272"/>
            <a:ext cx="329184" cy="329184"/>
          </a:xfrm>
          <a:prstGeom prst="rect">
            <a:avLst/>
          </a:prstGeom>
        </p:spPr>
      </p:pic>
      <p:sp>
        <p:nvSpPr>
          <p:cNvPr id="13" name="Text 9"/>
          <p:cNvSpPr/>
          <p:nvPr/>
        </p:nvSpPr>
        <p:spPr>
          <a:xfrm>
            <a:off x="7178040" y="1801368"/>
            <a:ext cx="4160520" cy="384048"/>
          </a:xfrm>
          <a:prstGeom prst="rect">
            <a:avLst/>
          </a:prstGeom>
          <a:noFill/>
          <a:ln/>
        </p:spPr>
        <p:txBody>
          <a:bodyPr wrap="square" lIns="0" tIns="0" rIns="0" bIns="0" rtlCol="0" anchor="ctr"/>
          <a:lstStyle/>
          <a:p>
            <a:pPr marL="0" indent="0">
              <a:buNone/>
            </a:pPr>
            <a:r>
              <a:rPr lang="en-US" sz="1500" b="1" dirty="0">
                <a:solidFill>
                  <a:srgbClr val="0D1C78"/>
                </a:solidFill>
                <a:latin typeface="Cambria" pitchFamily="34" charset="0"/>
                <a:ea typeface="Cambria" pitchFamily="34" charset="-122"/>
                <a:cs typeface="Cambria" pitchFamily="34" charset="-120"/>
              </a:rPr>
              <a:t>Cleaning &amp; Feature Engineering</a:t>
            </a:r>
            <a:endParaRPr lang="en-US" sz="1500" dirty="0"/>
          </a:p>
        </p:txBody>
      </p:sp>
      <p:sp>
        <p:nvSpPr>
          <p:cNvPr id="14" name="Text 10"/>
          <p:cNvSpPr/>
          <p:nvPr/>
        </p:nvSpPr>
        <p:spPr>
          <a:xfrm>
            <a:off x="7178040" y="2221992"/>
            <a:ext cx="4160520" cy="685800"/>
          </a:xfrm>
          <a:prstGeom prst="rect">
            <a:avLst/>
          </a:prstGeom>
          <a:noFill/>
          <a:ln/>
        </p:spPr>
        <p:txBody>
          <a:bodyPr wrap="square" lIns="0" tIns="0" rIns="0" bIns="0" rtlCol="0" anchor="ctr"/>
          <a:lstStyle/>
          <a:p>
            <a:pPr marL="0" indent="0">
              <a:lnSpc>
                <a:spcPct val="115000"/>
              </a:lnSpc>
              <a:buNone/>
            </a:pPr>
            <a:r>
              <a:rPr lang="en-US" sz="1150" dirty="0">
                <a:solidFill>
                  <a:srgbClr val="6B7280"/>
                </a:solidFill>
                <a:latin typeface="Calibri" pitchFamily="34" charset="0"/>
                <a:ea typeface="Calibri" pitchFamily="34" charset="-122"/>
                <a:cs typeface="Calibri" pitchFamily="34" charset="-120"/>
              </a:rPr>
              <a:t>Handling missing data, building 8 new features</a:t>
            </a:r>
            <a:endParaRPr lang="en-US" sz="1150" dirty="0"/>
          </a:p>
        </p:txBody>
      </p:sp>
      <p:sp>
        <p:nvSpPr>
          <p:cNvPr id="15" name="Shape 11"/>
          <p:cNvSpPr/>
          <p:nvPr/>
        </p:nvSpPr>
        <p:spPr>
          <a:xfrm>
            <a:off x="548640" y="3218688"/>
            <a:ext cx="5349240" cy="1481328"/>
          </a:xfrm>
          <a:prstGeom prst="roundRect">
            <a:avLst>
              <a:gd name="adj" fmla="val 4938"/>
            </a:avLst>
          </a:prstGeom>
          <a:solidFill>
            <a:srgbClr val="FFFFFF"/>
          </a:solidFill>
          <a:ln w="9525">
            <a:solidFill>
              <a:srgbClr val="DDDCDC"/>
            </a:solidFill>
            <a:prstDash val="solid"/>
          </a:ln>
        </p:spPr>
      </p:sp>
      <p:sp>
        <p:nvSpPr>
          <p:cNvPr id="16" name="Shape 12"/>
          <p:cNvSpPr/>
          <p:nvPr/>
        </p:nvSpPr>
        <p:spPr>
          <a:xfrm>
            <a:off x="777240" y="3675888"/>
            <a:ext cx="566928" cy="566928"/>
          </a:xfrm>
          <a:prstGeom prst="ellipse">
            <a:avLst/>
          </a:prstGeom>
          <a:solidFill>
            <a:srgbClr val="B48C36"/>
          </a:solidFill>
          <a:ln/>
        </p:spPr>
      </p:sp>
      <p:pic>
        <p:nvPicPr>
          <p:cNvPr id="17" name="Image 2" descr="icon_barchart_white.png"/>
          <p:cNvPicPr>
            <a:picLocks noChangeAspect="1"/>
          </p:cNvPicPr>
          <p:nvPr/>
        </p:nvPicPr>
        <p:blipFill>
          <a:blip r:embed="rId5"/>
          <a:stretch>
            <a:fillRect/>
          </a:stretch>
        </p:blipFill>
        <p:spPr>
          <a:xfrm>
            <a:off x="896112" y="3794760"/>
            <a:ext cx="329184" cy="329184"/>
          </a:xfrm>
          <a:prstGeom prst="rect">
            <a:avLst/>
          </a:prstGeom>
        </p:spPr>
      </p:pic>
      <p:sp>
        <p:nvSpPr>
          <p:cNvPr id="18" name="Text 13"/>
          <p:cNvSpPr/>
          <p:nvPr/>
        </p:nvSpPr>
        <p:spPr>
          <a:xfrm>
            <a:off x="1508760" y="3419856"/>
            <a:ext cx="4160520" cy="384048"/>
          </a:xfrm>
          <a:prstGeom prst="rect">
            <a:avLst/>
          </a:prstGeom>
          <a:noFill/>
          <a:ln/>
        </p:spPr>
        <p:txBody>
          <a:bodyPr wrap="square" lIns="0" tIns="0" rIns="0" bIns="0" rtlCol="0" anchor="ctr"/>
          <a:lstStyle/>
          <a:p>
            <a:pPr marL="0" indent="0">
              <a:buNone/>
            </a:pPr>
            <a:r>
              <a:rPr lang="en-US" sz="1500" b="1" dirty="0">
                <a:solidFill>
                  <a:srgbClr val="0D1C78"/>
                </a:solidFill>
                <a:latin typeface="Cambria" pitchFamily="34" charset="0"/>
                <a:ea typeface="Cambria" pitchFamily="34" charset="-122"/>
                <a:cs typeface="Cambria" pitchFamily="34" charset="-120"/>
              </a:rPr>
              <a:t>Exploratory Analysis</a:t>
            </a:r>
            <a:endParaRPr lang="en-US" sz="1500" dirty="0"/>
          </a:p>
        </p:txBody>
      </p:sp>
      <p:sp>
        <p:nvSpPr>
          <p:cNvPr id="19" name="Text 14"/>
          <p:cNvSpPr/>
          <p:nvPr/>
        </p:nvSpPr>
        <p:spPr>
          <a:xfrm>
            <a:off x="1508760" y="3840480"/>
            <a:ext cx="4160520" cy="685800"/>
          </a:xfrm>
          <a:prstGeom prst="rect">
            <a:avLst/>
          </a:prstGeom>
          <a:noFill/>
          <a:ln/>
        </p:spPr>
        <p:txBody>
          <a:bodyPr wrap="square" lIns="0" tIns="0" rIns="0" bIns="0" rtlCol="0" anchor="ctr"/>
          <a:lstStyle/>
          <a:p>
            <a:pPr marL="0" indent="0">
              <a:lnSpc>
                <a:spcPct val="115000"/>
              </a:lnSpc>
              <a:buNone/>
            </a:pPr>
            <a:r>
              <a:rPr lang="en-US" sz="1150" dirty="0">
                <a:solidFill>
                  <a:srgbClr val="6B7280"/>
                </a:solidFill>
                <a:latin typeface="Calibri" pitchFamily="34" charset="0"/>
                <a:ea typeface="Calibri" pitchFamily="34" charset="-122"/>
                <a:cs typeface="Calibri" pitchFamily="34" charset="-120"/>
              </a:rPr>
              <a:t>Uncovering the patterns behind home prices</a:t>
            </a:r>
            <a:endParaRPr lang="en-US" sz="1150" dirty="0"/>
          </a:p>
        </p:txBody>
      </p:sp>
      <p:sp>
        <p:nvSpPr>
          <p:cNvPr id="20" name="Shape 15"/>
          <p:cNvSpPr/>
          <p:nvPr/>
        </p:nvSpPr>
        <p:spPr>
          <a:xfrm>
            <a:off x="6217920" y="3218688"/>
            <a:ext cx="5349240" cy="1481328"/>
          </a:xfrm>
          <a:prstGeom prst="roundRect">
            <a:avLst>
              <a:gd name="adj" fmla="val 4938"/>
            </a:avLst>
          </a:prstGeom>
          <a:solidFill>
            <a:srgbClr val="FFFFFF"/>
          </a:solidFill>
          <a:ln w="9525">
            <a:solidFill>
              <a:srgbClr val="DDDCDC"/>
            </a:solidFill>
            <a:prstDash val="solid"/>
          </a:ln>
        </p:spPr>
      </p:sp>
      <p:sp>
        <p:nvSpPr>
          <p:cNvPr id="21" name="Shape 16"/>
          <p:cNvSpPr/>
          <p:nvPr/>
        </p:nvSpPr>
        <p:spPr>
          <a:xfrm>
            <a:off x="6446520" y="3675888"/>
            <a:ext cx="566928" cy="566928"/>
          </a:xfrm>
          <a:prstGeom prst="ellipse">
            <a:avLst/>
          </a:prstGeom>
          <a:solidFill>
            <a:srgbClr val="B48C36"/>
          </a:solidFill>
          <a:ln/>
        </p:spPr>
      </p:sp>
      <p:pic>
        <p:nvPicPr>
          <p:cNvPr id="22" name="Image 3" descr="icon_trending_white.png"/>
          <p:cNvPicPr>
            <a:picLocks noChangeAspect="1"/>
          </p:cNvPicPr>
          <p:nvPr/>
        </p:nvPicPr>
        <p:blipFill>
          <a:blip r:embed="rId6"/>
          <a:stretch>
            <a:fillRect/>
          </a:stretch>
        </p:blipFill>
        <p:spPr>
          <a:xfrm>
            <a:off x="6565392" y="3794760"/>
            <a:ext cx="329184" cy="329184"/>
          </a:xfrm>
          <a:prstGeom prst="rect">
            <a:avLst/>
          </a:prstGeom>
        </p:spPr>
      </p:pic>
      <p:sp>
        <p:nvSpPr>
          <p:cNvPr id="23" name="Text 17"/>
          <p:cNvSpPr/>
          <p:nvPr/>
        </p:nvSpPr>
        <p:spPr>
          <a:xfrm>
            <a:off x="7178040" y="3419856"/>
            <a:ext cx="4160520" cy="384048"/>
          </a:xfrm>
          <a:prstGeom prst="rect">
            <a:avLst/>
          </a:prstGeom>
          <a:noFill/>
          <a:ln/>
        </p:spPr>
        <p:txBody>
          <a:bodyPr wrap="square" lIns="0" tIns="0" rIns="0" bIns="0" rtlCol="0" anchor="ctr"/>
          <a:lstStyle/>
          <a:p>
            <a:pPr marL="0" indent="0">
              <a:buNone/>
            </a:pPr>
            <a:r>
              <a:rPr lang="en-US" sz="1500" b="1" dirty="0">
                <a:solidFill>
                  <a:srgbClr val="0D1C78"/>
                </a:solidFill>
                <a:latin typeface="Cambria" pitchFamily="34" charset="0"/>
                <a:ea typeface="Cambria" pitchFamily="34" charset="-122"/>
                <a:cs typeface="Cambria" pitchFamily="34" charset="-120"/>
              </a:rPr>
              <a:t>Predictive Modeling</a:t>
            </a:r>
            <a:endParaRPr lang="en-US" sz="1500" dirty="0"/>
          </a:p>
        </p:txBody>
      </p:sp>
      <p:sp>
        <p:nvSpPr>
          <p:cNvPr id="24" name="Text 18"/>
          <p:cNvSpPr/>
          <p:nvPr/>
        </p:nvSpPr>
        <p:spPr>
          <a:xfrm>
            <a:off x="7178040" y="3840480"/>
            <a:ext cx="4160520" cy="685800"/>
          </a:xfrm>
          <a:prstGeom prst="rect">
            <a:avLst/>
          </a:prstGeom>
          <a:noFill/>
          <a:ln/>
        </p:spPr>
        <p:txBody>
          <a:bodyPr wrap="square" lIns="0" tIns="0" rIns="0" bIns="0" rtlCol="0" anchor="ctr"/>
          <a:lstStyle/>
          <a:p>
            <a:pPr marL="0" indent="0">
              <a:lnSpc>
                <a:spcPct val="115000"/>
              </a:lnSpc>
              <a:buNone/>
            </a:pPr>
            <a:r>
              <a:rPr lang="en-US" sz="1150" dirty="0">
                <a:solidFill>
                  <a:srgbClr val="6B7280"/>
                </a:solidFill>
                <a:latin typeface="Calibri" pitchFamily="34" charset="0"/>
                <a:ea typeface="Calibri" pitchFamily="34" charset="-122"/>
                <a:cs typeface="Calibri" pitchFamily="34" charset="-120"/>
              </a:rPr>
              <a:t>5 machine learning models compared</a:t>
            </a:r>
            <a:endParaRPr lang="en-US" sz="1150" dirty="0"/>
          </a:p>
        </p:txBody>
      </p:sp>
      <p:sp>
        <p:nvSpPr>
          <p:cNvPr id="25" name="Shape 19"/>
          <p:cNvSpPr/>
          <p:nvPr/>
        </p:nvSpPr>
        <p:spPr>
          <a:xfrm>
            <a:off x="548640" y="4837176"/>
            <a:ext cx="5349240" cy="1481328"/>
          </a:xfrm>
          <a:prstGeom prst="roundRect">
            <a:avLst>
              <a:gd name="adj" fmla="val 4938"/>
            </a:avLst>
          </a:prstGeom>
          <a:solidFill>
            <a:srgbClr val="FFFFFF"/>
          </a:solidFill>
          <a:ln w="9525">
            <a:solidFill>
              <a:srgbClr val="DDDCDC"/>
            </a:solidFill>
            <a:prstDash val="solid"/>
          </a:ln>
        </p:spPr>
      </p:sp>
      <p:sp>
        <p:nvSpPr>
          <p:cNvPr id="26" name="Shape 20"/>
          <p:cNvSpPr/>
          <p:nvPr/>
        </p:nvSpPr>
        <p:spPr>
          <a:xfrm>
            <a:off x="777240" y="5294376"/>
            <a:ext cx="566928" cy="566928"/>
          </a:xfrm>
          <a:prstGeom prst="ellipse">
            <a:avLst/>
          </a:prstGeom>
          <a:solidFill>
            <a:srgbClr val="B48C36"/>
          </a:solidFill>
          <a:ln/>
        </p:spPr>
      </p:sp>
      <p:pic>
        <p:nvPicPr>
          <p:cNvPr id="27" name="Image 4" descr="icon_zap_white.png"/>
          <p:cNvPicPr>
            <a:picLocks noChangeAspect="1"/>
          </p:cNvPicPr>
          <p:nvPr/>
        </p:nvPicPr>
        <p:blipFill>
          <a:blip r:embed="rId7"/>
          <a:stretch>
            <a:fillRect/>
          </a:stretch>
        </p:blipFill>
        <p:spPr>
          <a:xfrm>
            <a:off x="896112" y="5413248"/>
            <a:ext cx="329184" cy="329184"/>
          </a:xfrm>
          <a:prstGeom prst="rect">
            <a:avLst/>
          </a:prstGeom>
        </p:spPr>
      </p:pic>
      <p:sp>
        <p:nvSpPr>
          <p:cNvPr id="28" name="Text 21"/>
          <p:cNvSpPr/>
          <p:nvPr/>
        </p:nvSpPr>
        <p:spPr>
          <a:xfrm>
            <a:off x="1508760" y="5038344"/>
            <a:ext cx="4160520" cy="384048"/>
          </a:xfrm>
          <a:prstGeom prst="rect">
            <a:avLst/>
          </a:prstGeom>
          <a:noFill/>
          <a:ln/>
        </p:spPr>
        <p:txBody>
          <a:bodyPr wrap="square" lIns="0" tIns="0" rIns="0" bIns="0" rtlCol="0" anchor="ctr"/>
          <a:lstStyle/>
          <a:p>
            <a:pPr marL="0" indent="0">
              <a:buNone/>
            </a:pPr>
            <a:r>
              <a:rPr lang="en-US" sz="1500" b="1" dirty="0">
                <a:solidFill>
                  <a:srgbClr val="0D1C78"/>
                </a:solidFill>
                <a:latin typeface="Cambria" pitchFamily="34" charset="0"/>
                <a:ea typeface="Cambria" pitchFamily="34" charset="-122"/>
                <a:cs typeface="Cambria" pitchFamily="34" charset="-120"/>
              </a:rPr>
              <a:t>AI-Generated Insights</a:t>
            </a:r>
            <a:endParaRPr lang="en-US" sz="1500" dirty="0"/>
          </a:p>
        </p:txBody>
      </p:sp>
      <p:sp>
        <p:nvSpPr>
          <p:cNvPr id="29" name="Text 22"/>
          <p:cNvSpPr/>
          <p:nvPr/>
        </p:nvSpPr>
        <p:spPr>
          <a:xfrm>
            <a:off x="1508760" y="5458968"/>
            <a:ext cx="4160520" cy="685800"/>
          </a:xfrm>
          <a:prstGeom prst="rect">
            <a:avLst/>
          </a:prstGeom>
          <a:noFill/>
          <a:ln/>
        </p:spPr>
        <p:txBody>
          <a:bodyPr wrap="square" lIns="0" tIns="0" rIns="0" bIns="0" rtlCol="0" anchor="ctr"/>
          <a:lstStyle/>
          <a:p>
            <a:pPr marL="0" indent="0">
              <a:lnSpc>
                <a:spcPct val="115000"/>
              </a:lnSpc>
              <a:buNone/>
            </a:pPr>
            <a:r>
              <a:rPr lang="en-US" sz="1150" dirty="0">
                <a:solidFill>
                  <a:srgbClr val="6B7280"/>
                </a:solidFill>
                <a:latin typeface="Calibri" pitchFamily="34" charset="0"/>
                <a:ea typeface="Calibri" pitchFamily="34" charset="-122"/>
                <a:cs typeface="Calibri" pitchFamily="34" charset="-120"/>
              </a:rPr>
              <a:t>Turning results into business recommendations</a:t>
            </a:r>
            <a:endParaRPr lang="en-US" sz="1150" dirty="0"/>
          </a:p>
        </p:txBody>
      </p:sp>
      <p:sp>
        <p:nvSpPr>
          <p:cNvPr id="30" name="Shape 23"/>
          <p:cNvSpPr/>
          <p:nvPr/>
        </p:nvSpPr>
        <p:spPr>
          <a:xfrm>
            <a:off x="6217920" y="4837176"/>
            <a:ext cx="5349240" cy="1481328"/>
          </a:xfrm>
          <a:prstGeom prst="roundRect">
            <a:avLst>
              <a:gd name="adj" fmla="val 4938"/>
            </a:avLst>
          </a:prstGeom>
          <a:solidFill>
            <a:srgbClr val="FFFFFF"/>
          </a:solidFill>
          <a:ln w="9525">
            <a:solidFill>
              <a:srgbClr val="DDDCDC"/>
            </a:solidFill>
            <a:prstDash val="solid"/>
          </a:ln>
        </p:spPr>
      </p:sp>
      <p:sp>
        <p:nvSpPr>
          <p:cNvPr id="31" name="Shape 24"/>
          <p:cNvSpPr/>
          <p:nvPr/>
        </p:nvSpPr>
        <p:spPr>
          <a:xfrm>
            <a:off x="6446520" y="5294376"/>
            <a:ext cx="566928" cy="566928"/>
          </a:xfrm>
          <a:prstGeom prst="ellipse">
            <a:avLst/>
          </a:prstGeom>
          <a:solidFill>
            <a:srgbClr val="B48C36"/>
          </a:solidFill>
          <a:ln/>
        </p:spPr>
      </p:sp>
      <p:pic>
        <p:nvPicPr>
          <p:cNvPr id="32" name="Image 5" descr="icon_grid_white.png"/>
          <p:cNvPicPr>
            <a:picLocks noChangeAspect="1"/>
          </p:cNvPicPr>
          <p:nvPr/>
        </p:nvPicPr>
        <p:blipFill>
          <a:blip r:embed="rId8"/>
          <a:stretch>
            <a:fillRect/>
          </a:stretch>
        </p:blipFill>
        <p:spPr>
          <a:xfrm>
            <a:off x="6565392" y="5413248"/>
            <a:ext cx="329184" cy="329184"/>
          </a:xfrm>
          <a:prstGeom prst="rect">
            <a:avLst/>
          </a:prstGeom>
        </p:spPr>
      </p:pic>
      <p:sp>
        <p:nvSpPr>
          <p:cNvPr id="33" name="Text 25"/>
          <p:cNvSpPr/>
          <p:nvPr/>
        </p:nvSpPr>
        <p:spPr>
          <a:xfrm>
            <a:off x="7178040" y="5038344"/>
            <a:ext cx="4160520" cy="384048"/>
          </a:xfrm>
          <a:prstGeom prst="rect">
            <a:avLst/>
          </a:prstGeom>
          <a:noFill/>
          <a:ln/>
        </p:spPr>
        <p:txBody>
          <a:bodyPr wrap="square" lIns="0" tIns="0" rIns="0" bIns="0" rtlCol="0" anchor="ctr"/>
          <a:lstStyle/>
          <a:p>
            <a:pPr marL="0" indent="0">
              <a:buNone/>
            </a:pPr>
            <a:r>
              <a:rPr lang="en-US" sz="1500" b="1" dirty="0">
                <a:solidFill>
                  <a:srgbClr val="0D1C78"/>
                </a:solidFill>
                <a:latin typeface="Cambria" pitchFamily="34" charset="0"/>
                <a:ea typeface="Cambria" pitchFamily="34" charset="-122"/>
                <a:cs typeface="Cambria" pitchFamily="34" charset="-120"/>
              </a:rPr>
              <a:t>Interactive Dashboard</a:t>
            </a:r>
            <a:endParaRPr lang="en-US" sz="1500" dirty="0"/>
          </a:p>
        </p:txBody>
      </p:sp>
      <p:sp>
        <p:nvSpPr>
          <p:cNvPr id="34" name="Text 26"/>
          <p:cNvSpPr/>
          <p:nvPr/>
        </p:nvSpPr>
        <p:spPr>
          <a:xfrm>
            <a:off x="7178040" y="5458968"/>
            <a:ext cx="4160520" cy="685800"/>
          </a:xfrm>
          <a:prstGeom prst="rect">
            <a:avLst/>
          </a:prstGeom>
          <a:noFill/>
          <a:ln/>
        </p:spPr>
        <p:txBody>
          <a:bodyPr wrap="square" lIns="0" tIns="0" rIns="0" bIns="0" rtlCol="0" anchor="ctr"/>
          <a:lstStyle/>
          <a:p>
            <a:pPr marL="0" indent="0">
              <a:lnSpc>
                <a:spcPct val="115000"/>
              </a:lnSpc>
              <a:buNone/>
            </a:pPr>
            <a:r>
              <a:rPr lang="en-US" sz="1150" dirty="0">
                <a:solidFill>
                  <a:srgbClr val="6B7280"/>
                </a:solidFill>
                <a:latin typeface="Calibri" pitchFamily="34" charset="0"/>
                <a:ea typeface="Calibri" pitchFamily="34" charset="-122"/>
                <a:cs typeface="Calibri" pitchFamily="34" charset="-120"/>
              </a:rPr>
              <a:t>A 5-page Power BI experience</a:t>
            </a:r>
            <a:endParaRPr lang="en-US" sz="1150" dirty="0"/>
          </a:p>
        </p:txBody>
      </p:sp>
      <p:sp>
        <p:nvSpPr>
          <p:cNvPr id="35" name="Text 27"/>
          <p:cNvSpPr/>
          <p:nvPr/>
        </p:nvSpPr>
        <p:spPr>
          <a:xfrm>
            <a:off x="457200" y="6547104"/>
            <a:ext cx="5486400"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SmartHome Pricing Analytics</a:t>
            </a:r>
            <a:endParaRPr lang="en-US" sz="900" dirty="0"/>
          </a:p>
        </p:txBody>
      </p:sp>
      <p:sp>
        <p:nvSpPr>
          <p:cNvPr id="36" name="Text 28"/>
          <p:cNvSpPr/>
          <p:nvPr/>
        </p:nvSpPr>
        <p:spPr>
          <a:xfrm>
            <a:off x="11277295" y="6547104"/>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EDED"/>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34440"/>
          </a:xfrm>
          <a:prstGeom prst="rect">
            <a:avLst/>
          </a:prstGeom>
          <a:solidFill>
            <a:srgbClr val="0D1C78"/>
          </a:solidFill>
          <a:ln/>
        </p:spPr>
      </p:sp>
      <p:sp>
        <p:nvSpPr>
          <p:cNvPr id="3" name="Text 1"/>
          <p:cNvSpPr/>
          <p:nvPr/>
        </p:nvSpPr>
        <p:spPr>
          <a:xfrm>
            <a:off x="548640" y="201168"/>
            <a:ext cx="10515600" cy="566928"/>
          </a:xfrm>
          <a:prstGeom prst="rect">
            <a:avLst/>
          </a:prstGeom>
          <a:noFill/>
          <a:ln/>
        </p:spPr>
        <p:txBody>
          <a:bodyPr wrap="square" lIns="0" tIns="0" rIns="0" bIns="0" rtlCol="0" anchor="ctr"/>
          <a:lstStyle/>
          <a:p>
            <a:pPr marL="0" indent="0" algn="l">
              <a:buNone/>
            </a:pPr>
            <a:r>
              <a:rPr lang="en-US" sz="3000" b="1" dirty="0">
                <a:solidFill>
                  <a:srgbClr val="D4AF6A"/>
                </a:solidFill>
                <a:latin typeface="Cambria" pitchFamily="34" charset="0"/>
                <a:ea typeface="Cambria" pitchFamily="34" charset="-122"/>
                <a:cs typeface="Cambria" pitchFamily="34" charset="-120"/>
              </a:rPr>
              <a:t>Project Overview</a:t>
            </a:r>
            <a:endParaRPr lang="en-US" sz="3000" dirty="0"/>
          </a:p>
        </p:txBody>
      </p:sp>
      <p:sp>
        <p:nvSpPr>
          <p:cNvPr id="4" name="Text 2"/>
          <p:cNvSpPr/>
          <p:nvPr/>
        </p:nvSpPr>
        <p:spPr>
          <a:xfrm>
            <a:off x="548640" y="749808"/>
            <a:ext cx="10789920" cy="365760"/>
          </a:xfrm>
          <a:prstGeom prst="rect">
            <a:avLst/>
          </a:prstGeom>
          <a:noFill/>
          <a:ln/>
        </p:spPr>
        <p:txBody>
          <a:bodyPr wrap="square" lIns="0" tIns="0" rIns="0" bIns="0" rtlCol="0" anchor="ctr"/>
          <a:lstStyle/>
          <a:p>
            <a:pPr marL="0" indent="0" algn="l">
              <a:buNone/>
            </a:pPr>
            <a:r>
              <a:rPr lang="en-US" sz="1300" i="1" dirty="0">
                <a:solidFill>
                  <a:srgbClr val="FFFFFF"/>
                </a:solidFill>
                <a:latin typeface="Calibri" pitchFamily="34" charset="0"/>
                <a:ea typeface="Calibri" pitchFamily="34" charset="-122"/>
                <a:cs typeface="Calibri" pitchFamily="34" charset="-120"/>
              </a:rPr>
              <a:t>An end-to-end AI-assisted data analytics workflow</a:t>
            </a:r>
            <a:endParaRPr lang="en-US" sz="1300" dirty="0"/>
          </a:p>
        </p:txBody>
      </p:sp>
      <p:sp>
        <p:nvSpPr>
          <p:cNvPr id="5" name="Text 3"/>
          <p:cNvSpPr/>
          <p:nvPr/>
        </p:nvSpPr>
        <p:spPr>
          <a:xfrm>
            <a:off x="548640" y="1600200"/>
            <a:ext cx="6035040" cy="4297680"/>
          </a:xfrm>
          <a:prstGeom prst="rect">
            <a:avLst/>
          </a:prstGeom>
          <a:noFill/>
          <a:ln/>
        </p:spPr>
        <p:txBody>
          <a:bodyPr wrap="square" rtlCol="0" anchor="t"/>
          <a:lstStyle/>
          <a:p>
            <a:pPr marL="0" indent="0">
              <a:lnSpc>
                <a:spcPct val="130000"/>
              </a:lnSpc>
              <a:buNone/>
            </a:pPr>
            <a:r>
              <a:rPr lang="en-US" sz="1700" b="1" dirty="0">
                <a:solidFill>
                  <a:srgbClr val="0D1C78"/>
                </a:solidFill>
                <a:latin typeface="Calibri" pitchFamily="34" charset="0"/>
                <a:ea typeface="Calibri" pitchFamily="34" charset="-122"/>
                <a:cs typeface="Calibri" pitchFamily="34" charset="-120"/>
              </a:rPr>
              <a:t>The Goal
</a:t>
            </a:r>
            <a:endParaRPr lang="en-US" sz="1700" dirty="0"/>
          </a:p>
          <a:p>
            <a:pPr marL="0" indent="0">
              <a:lnSpc>
                <a:spcPct val="130000"/>
              </a:lnSpc>
              <a:buNone/>
            </a:pPr>
            <a:r>
              <a:rPr lang="en-US" sz="1300" dirty="0">
                <a:solidFill>
                  <a:srgbClr val="1F2937"/>
                </a:solidFill>
                <a:latin typeface="Calibri" pitchFamily="34" charset="0"/>
                <a:ea typeface="Calibri" pitchFamily="34" charset="-122"/>
                <a:cs typeface="Calibri" pitchFamily="34" charset="-120"/>
              </a:rPr>
              <a:t>Predict the final sale price of a house using its physical, structural, and locational characteristics — turning raw property records into a model that supports real pricing decisions.
</a:t>
            </a:r>
            <a:endParaRPr lang="en-US" sz="1700" dirty="0"/>
          </a:p>
          <a:p>
            <a:pPr marL="0" indent="0">
              <a:lnSpc>
                <a:spcPct val="130000"/>
              </a:lnSpc>
              <a:buNone/>
            </a:pPr>
            <a:r>
              <a:rPr lang="en-US" sz="1700" b="1" dirty="0">
                <a:solidFill>
                  <a:srgbClr val="0D1C78"/>
                </a:solidFill>
                <a:latin typeface="Calibri" pitchFamily="34" charset="0"/>
                <a:ea typeface="Calibri" pitchFamily="34" charset="-122"/>
                <a:cs typeface="Calibri" pitchFamily="34" charset="-120"/>
              </a:rPr>
              <a:t>The Approach
</a:t>
            </a:r>
            <a:endParaRPr lang="en-US" sz="1700" dirty="0"/>
          </a:p>
          <a:p>
            <a:pPr marL="0" indent="0">
              <a:lnSpc>
                <a:spcPct val="130000"/>
              </a:lnSpc>
              <a:buNone/>
            </a:pPr>
            <a:r>
              <a:rPr lang="en-US" sz="1300" dirty="0">
                <a:solidFill>
                  <a:srgbClr val="1F2937"/>
                </a:solidFill>
                <a:latin typeface="Calibri" pitchFamily="34" charset="0"/>
                <a:ea typeface="Calibri" pitchFamily="34" charset="-122"/>
                <a:cs typeface="Calibri" pitchFamily="34" charset="-120"/>
              </a:rPr>
              <a:t>A complete analytics lifecycle: clean and prepare the data, engineer meaningful features, explore the patterns, train and compare multiple predictive models, and translate the results into both AI-generated insights and an interactive dashboard.</a:t>
            </a:r>
            <a:endParaRPr lang="en-US" sz="1700" dirty="0"/>
          </a:p>
        </p:txBody>
      </p:sp>
      <p:sp>
        <p:nvSpPr>
          <p:cNvPr id="6" name="Shape 4"/>
          <p:cNvSpPr/>
          <p:nvPr/>
        </p:nvSpPr>
        <p:spPr>
          <a:xfrm>
            <a:off x="6995160" y="1691640"/>
            <a:ext cx="4663440" cy="1051560"/>
          </a:xfrm>
          <a:prstGeom prst="roundRect">
            <a:avLst>
              <a:gd name="adj" fmla="val 8696"/>
            </a:avLst>
          </a:prstGeom>
          <a:solidFill>
            <a:srgbClr val="B48C36"/>
          </a:solidFill>
          <a:ln/>
          <a:effectLst>
            <a:outerShdw blurRad="76200" dist="25400" dir="5400000" algn="bl" rotWithShape="0">
              <a:srgbClr val="000000">
                <a:alpha val="18000"/>
              </a:srgbClr>
            </a:outerShdw>
          </a:effectLst>
        </p:spPr>
      </p:sp>
      <p:sp>
        <p:nvSpPr>
          <p:cNvPr id="7" name="Text 5"/>
          <p:cNvSpPr/>
          <p:nvPr/>
        </p:nvSpPr>
        <p:spPr>
          <a:xfrm>
            <a:off x="6995160" y="1819656"/>
            <a:ext cx="466344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1,460</a:t>
            </a:r>
            <a:endParaRPr lang="en-US" sz="2400" dirty="0"/>
          </a:p>
        </p:txBody>
      </p:sp>
      <p:sp>
        <p:nvSpPr>
          <p:cNvPr id="8" name="Text 6"/>
          <p:cNvSpPr/>
          <p:nvPr/>
        </p:nvSpPr>
        <p:spPr>
          <a:xfrm>
            <a:off x="6995160" y="2313432"/>
            <a:ext cx="4663440" cy="365760"/>
          </a:xfrm>
          <a:prstGeom prst="rect">
            <a:avLst/>
          </a:prstGeom>
          <a:noFill/>
          <a:ln/>
        </p:spPr>
        <p:txBody>
          <a:bodyPr wrap="square" lIns="0" tIns="0" rIns="0" bIns="0" rtlCol="0" anchor="ctr"/>
          <a:lstStyle/>
          <a:p>
            <a:pPr marL="0" indent="0" algn="ctr">
              <a:buNone/>
            </a:pPr>
            <a:r>
              <a:rPr lang="en-US" sz="1050" dirty="0">
                <a:solidFill>
                  <a:srgbClr val="2A1E06"/>
                </a:solidFill>
                <a:latin typeface="Calibri" pitchFamily="34" charset="0"/>
                <a:ea typeface="Calibri" pitchFamily="34" charset="-122"/>
                <a:cs typeface="Calibri" pitchFamily="34" charset="-120"/>
              </a:rPr>
              <a:t>Properties analyzed</a:t>
            </a:r>
            <a:endParaRPr lang="en-US" sz="1050" dirty="0"/>
          </a:p>
        </p:txBody>
      </p:sp>
      <p:sp>
        <p:nvSpPr>
          <p:cNvPr id="9" name="Shape 7"/>
          <p:cNvSpPr/>
          <p:nvPr/>
        </p:nvSpPr>
        <p:spPr>
          <a:xfrm>
            <a:off x="6995160" y="2880360"/>
            <a:ext cx="4663440" cy="1051560"/>
          </a:xfrm>
          <a:prstGeom prst="roundRect">
            <a:avLst>
              <a:gd name="adj" fmla="val 8696"/>
            </a:avLst>
          </a:prstGeom>
          <a:solidFill>
            <a:srgbClr val="B48C36"/>
          </a:solidFill>
          <a:ln/>
          <a:effectLst>
            <a:outerShdw blurRad="76200" dist="25400" dir="5400000" algn="bl" rotWithShape="0">
              <a:srgbClr val="000000">
                <a:alpha val="18000"/>
              </a:srgbClr>
            </a:outerShdw>
          </a:effectLst>
        </p:spPr>
      </p:sp>
      <p:sp>
        <p:nvSpPr>
          <p:cNvPr id="10" name="Text 8"/>
          <p:cNvSpPr/>
          <p:nvPr/>
        </p:nvSpPr>
        <p:spPr>
          <a:xfrm>
            <a:off x="6995160" y="3008376"/>
            <a:ext cx="4663440" cy="502920"/>
          </a:xfrm>
          <a:prstGeom prst="rect">
            <a:avLst/>
          </a:prstGeom>
          <a:noFill/>
          <a:ln/>
        </p:spPr>
        <p:txBody>
          <a:bodyPr wrap="square" lIns="0" tIns="0" rIns="0" bIns="0" rtlCol="0" anchor="ctr"/>
          <a:lstStyle/>
          <a:p>
            <a:pPr marL="0" indent="0" algn="ctr">
              <a:buNone/>
            </a:pPr>
            <a:r>
              <a:rPr lang="ar-EG" sz="2400" b="1" dirty="0">
                <a:solidFill>
                  <a:srgbClr val="FFFFFF"/>
                </a:solidFill>
                <a:latin typeface="Cambria" pitchFamily="34" charset="0"/>
                <a:ea typeface="Cambria" pitchFamily="34" charset="-122"/>
                <a:cs typeface="Cambria" pitchFamily="34" charset="-120"/>
              </a:rPr>
              <a:t>7</a:t>
            </a:r>
            <a:r>
              <a:rPr lang="en-US" sz="2400" b="1" dirty="0">
                <a:solidFill>
                  <a:srgbClr val="FFFFFF"/>
                </a:solidFill>
                <a:latin typeface="Cambria" pitchFamily="34" charset="0"/>
                <a:ea typeface="Cambria" pitchFamily="34" charset="-122"/>
                <a:cs typeface="Cambria" pitchFamily="34" charset="-120"/>
              </a:rPr>
              <a:t>9</a:t>
            </a:r>
            <a:endParaRPr lang="en-US" sz="2400" dirty="0"/>
          </a:p>
        </p:txBody>
      </p:sp>
      <p:sp>
        <p:nvSpPr>
          <p:cNvPr id="11" name="Text 9"/>
          <p:cNvSpPr/>
          <p:nvPr/>
        </p:nvSpPr>
        <p:spPr>
          <a:xfrm>
            <a:off x="6995160" y="3502152"/>
            <a:ext cx="4663440" cy="365760"/>
          </a:xfrm>
          <a:prstGeom prst="rect">
            <a:avLst/>
          </a:prstGeom>
          <a:noFill/>
          <a:ln/>
        </p:spPr>
        <p:txBody>
          <a:bodyPr wrap="square" lIns="0" tIns="0" rIns="0" bIns="0" rtlCol="0" anchor="ctr"/>
          <a:lstStyle/>
          <a:p>
            <a:pPr marL="0" indent="0" algn="ctr">
              <a:buNone/>
            </a:pPr>
            <a:r>
              <a:rPr lang="en-US" sz="1050" dirty="0">
                <a:solidFill>
                  <a:srgbClr val="2A1E06"/>
                </a:solidFill>
                <a:latin typeface="Calibri" pitchFamily="34" charset="0"/>
                <a:ea typeface="Calibri" pitchFamily="34" charset="-122"/>
                <a:cs typeface="Calibri" pitchFamily="34" charset="-120"/>
              </a:rPr>
              <a:t>Explanatory features</a:t>
            </a:r>
            <a:endParaRPr lang="en-US" sz="1050" dirty="0"/>
          </a:p>
        </p:txBody>
      </p:sp>
      <p:sp>
        <p:nvSpPr>
          <p:cNvPr id="12" name="Shape 10"/>
          <p:cNvSpPr/>
          <p:nvPr/>
        </p:nvSpPr>
        <p:spPr>
          <a:xfrm>
            <a:off x="6995160" y="4069080"/>
            <a:ext cx="4663440" cy="1051560"/>
          </a:xfrm>
          <a:prstGeom prst="roundRect">
            <a:avLst>
              <a:gd name="adj" fmla="val 8696"/>
            </a:avLst>
          </a:prstGeom>
          <a:solidFill>
            <a:srgbClr val="B48C36"/>
          </a:solidFill>
          <a:ln/>
          <a:effectLst>
            <a:outerShdw blurRad="76200" dist="25400" dir="5400000" algn="bl" rotWithShape="0">
              <a:srgbClr val="000000">
                <a:alpha val="18000"/>
              </a:srgbClr>
            </a:outerShdw>
          </a:effectLst>
        </p:spPr>
      </p:sp>
      <p:sp>
        <p:nvSpPr>
          <p:cNvPr id="13" name="Text 11"/>
          <p:cNvSpPr/>
          <p:nvPr/>
        </p:nvSpPr>
        <p:spPr>
          <a:xfrm>
            <a:off x="6995160" y="4197096"/>
            <a:ext cx="466344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5</a:t>
            </a:r>
            <a:endParaRPr lang="en-US" sz="2400" dirty="0"/>
          </a:p>
        </p:txBody>
      </p:sp>
      <p:sp>
        <p:nvSpPr>
          <p:cNvPr id="14" name="Text 12"/>
          <p:cNvSpPr/>
          <p:nvPr/>
        </p:nvSpPr>
        <p:spPr>
          <a:xfrm>
            <a:off x="6995160" y="4690872"/>
            <a:ext cx="4663440" cy="365760"/>
          </a:xfrm>
          <a:prstGeom prst="rect">
            <a:avLst/>
          </a:prstGeom>
          <a:noFill/>
          <a:ln/>
        </p:spPr>
        <p:txBody>
          <a:bodyPr wrap="square" lIns="0" tIns="0" rIns="0" bIns="0" rtlCol="0" anchor="ctr"/>
          <a:lstStyle/>
          <a:p>
            <a:pPr marL="0" indent="0" algn="ctr">
              <a:buNone/>
            </a:pPr>
            <a:r>
              <a:rPr lang="en-US" sz="1050" dirty="0">
                <a:solidFill>
                  <a:srgbClr val="2A1E06"/>
                </a:solidFill>
                <a:latin typeface="Calibri" pitchFamily="34" charset="0"/>
                <a:ea typeface="Calibri" pitchFamily="34" charset="-122"/>
                <a:cs typeface="Calibri" pitchFamily="34" charset="-120"/>
              </a:rPr>
              <a:t>Predictive models compared</a:t>
            </a:r>
            <a:endParaRPr lang="en-US" sz="1050" dirty="0"/>
          </a:p>
        </p:txBody>
      </p:sp>
      <p:sp>
        <p:nvSpPr>
          <p:cNvPr id="15" name="Text 13"/>
          <p:cNvSpPr/>
          <p:nvPr/>
        </p:nvSpPr>
        <p:spPr>
          <a:xfrm>
            <a:off x="457200" y="6547104"/>
            <a:ext cx="5486400"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SmartHome Pricing Analytics</a:t>
            </a:r>
            <a:endParaRPr lang="en-US" sz="900" dirty="0"/>
          </a:p>
        </p:txBody>
      </p:sp>
      <p:sp>
        <p:nvSpPr>
          <p:cNvPr id="16" name="Text 14"/>
          <p:cNvSpPr/>
          <p:nvPr/>
        </p:nvSpPr>
        <p:spPr>
          <a:xfrm>
            <a:off x="11277295" y="6547104"/>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EDED"/>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34440"/>
          </a:xfrm>
          <a:prstGeom prst="rect">
            <a:avLst/>
          </a:prstGeom>
          <a:solidFill>
            <a:srgbClr val="0D1C78"/>
          </a:solidFill>
          <a:ln/>
        </p:spPr>
      </p:sp>
      <p:sp>
        <p:nvSpPr>
          <p:cNvPr id="3" name="Text 1"/>
          <p:cNvSpPr/>
          <p:nvPr/>
        </p:nvSpPr>
        <p:spPr>
          <a:xfrm>
            <a:off x="548640" y="201168"/>
            <a:ext cx="10515600" cy="566928"/>
          </a:xfrm>
          <a:prstGeom prst="rect">
            <a:avLst/>
          </a:prstGeom>
          <a:noFill/>
          <a:ln/>
        </p:spPr>
        <p:txBody>
          <a:bodyPr wrap="square" lIns="0" tIns="0" rIns="0" bIns="0" rtlCol="0" anchor="ctr"/>
          <a:lstStyle/>
          <a:p>
            <a:pPr marL="0" indent="0" algn="l">
              <a:buNone/>
            </a:pPr>
            <a:r>
              <a:rPr lang="en-US" sz="3000" b="1" dirty="0">
                <a:solidFill>
                  <a:srgbClr val="D4AF6A"/>
                </a:solidFill>
                <a:latin typeface="Cambria" pitchFamily="34" charset="0"/>
                <a:ea typeface="Cambria" pitchFamily="34" charset="-122"/>
                <a:cs typeface="Cambria" pitchFamily="34" charset="-120"/>
              </a:rPr>
              <a:t>Dataset Snapshot</a:t>
            </a:r>
            <a:endParaRPr lang="en-US" sz="3000" dirty="0"/>
          </a:p>
        </p:txBody>
      </p:sp>
      <p:sp>
        <p:nvSpPr>
          <p:cNvPr id="4" name="Text 2"/>
          <p:cNvSpPr/>
          <p:nvPr/>
        </p:nvSpPr>
        <p:spPr>
          <a:xfrm>
            <a:off x="548640" y="749808"/>
            <a:ext cx="10789920" cy="365760"/>
          </a:xfrm>
          <a:prstGeom prst="rect">
            <a:avLst/>
          </a:prstGeom>
          <a:noFill/>
          <a:ln/>
        </p:spPr>
        <p:txBody>
          <a:bodyPr wrap="square" lIns="0" tIns="0" rIns="0" bIns="0" rtlCol="0" anchor="ctr"/>
          <a:lstStyle/>
          <a:p>
            <a:pPr marL="0" indent="0" algn="l">
              <a:buNone/>
            </a:pPr>
            <a:r>
              <a:rPr lang="en-US" sz="1300" i="1" dirty="0">
                <a:solidFill>
                  <a:srgbClr val="FFFFFF"/>
                </a:solidFill>
                <a:latin typeface="Calibri" pitchFamily="34" charset="0"/>
                <a:ea typeface="Calibri" pitchFamily="34" charset="-122"/>
                <a:cs typeface="Calibri" pitchFamily="34" charset="-120"/>
              </a:rPr>
              <a:t>Ames Housing Dataset — Kaggle: House Prices Advanced Regression Techniques</a:t>
            </a:r>
            <a:endParaRPr lang="en-US" sz="1300" dirty="0"/>
          </a:p>
        </p:txBody>
      </p:sp>
      <p:sp>
        <p:nvSpPr>
          <p:cNvPr id="5" name="Shape 3"/>
          <p:cNvSpPr/>
          <p:nvPr/>
        </p:nvSpPr>
        <p:spPr>
          <a:xfrm>
            <a:off x="548640" y="1600200"/>
            <a:ext cx="2651760" cy="1143000"/>
          </a:xfrm>
          <a:prstGeom prst="roundRect">
            <a:avLst>
              <a:gd name="adj" fmla="val 8000"/>
            </a:avLst>
          </a:prstGeom>
          <a:solidFill>
            <a:srgbClr val="B48C36"/>
          </a:solidFill>
          <a:ln/>
          <a:effectLst>
            <a:outerShdw blurRad="76200" dist="25400" dir="5400000" algn="bl" rotWithShape="0">
              <a:srgbClr val="000000">
                <a:alpha val="18000"/>
              </a:srgbClr>
            </a:outerShdw>
          </a:effectLst>
        </p:spPr>
      </p:sp>
      <p:sp>
        <p:nvSpPr>
          <p:cNvPr id="6" name="Text 4"/>
          <p:cNvSpPr/>
          <p:nvPr/>
        </p:nvSpPr>
        <p:spPr>
          <a:xfrm>
            <a:off x="548640" y="1728216"/>
            <a:ext cx="265176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1,460</a:t>
            </a:r>
            <a:endParaRPr lang="en-US" sz="2400" dirty="0"/>
          </a:p>
        </p:txBody>
      </p:sp>
      <p:sp>
        <p:nvSpPr>
          <p:cNvPr id="7" name="Text 5"/>
          <p:cNvSpPr/>
          <p:nvPr/>
        </p:nvSpPr>
        <p:spPr>
          <a:xfrm>
            <a:off x="548640" y="2221992"/>
            <a:ext cx="2651760" cy="365760"/>
          </a:xfrm>
          <a:prstGeom prst="rect">
            <a:avLst/>
          </a:prstGeom>
          <a:noFill/>
          <a:ln/>
        </p:spPr>
        <p:txBody>
          <a:bodyPr wrap="square" lIns="0" tIns="0" rIns="0" bIns="0" rtlCol="0" anchor="ctr"/>
          <a:lstStyle/>
          <a:p>
            <a:pPr marL="0" indent="0" algn="ctr">
              <a:buNone/>
            </a:pPr>
            <a:r>
              <a:rPr lang="en-US" sz="1050" dirty="0">
                <a:solidFill>
                  <a:srgbClr val="2A1E06"/>
                </a:solidFill>
                <a:latin typeface="Calibri" pitchFamily="34" charset="0"/>
                <a:ea typeface="Calibri" pitchFamily="34" charset="-122"/>
                <a:cs typeface="Calibri" pitchFamily="34" charset="-120"/>
              </a:rPr>
              <a:t>Rows</a:t>
            </a:r>
            <a:endParaRPr lang="en-US" sz="1050" dirty="0"/>
          </a:p>
        </p:txBody>
      </p:sp>
      <p:sp>
        <p:nvSpPr>
          <p:cNvPr id="8" name="Shape 6"/>
          <p:cNvSpPr/>
          <p:nvPr/>
        </p:nvSpPr>
        <p:spPr>
          <a:xfrm>
            <a:off x="3337560" y="1600200"/>
            <a:ext cx="2651760" cy="1143000"/>
          </a:xfrm>
          <a:prstGeom prst="roundRect">
            <a:avLst>
              <a:gd name="adj" fmla="val 8000"/>
            </a:avLst>
          </a:prstGeom>
          <a:solidFill>
            <a:srgbClr val="B48C36"/>
          </a:solidFill>
          <a:ln/>
          <a:effectLst>
            <a:outerShdw blurRad="76200" dist="25400" dir="5400000" algn="bl" rotWithShape="0">
              <a:srgbClr val="000000">
                <a:alpha val="18000"/>
              </a:srgbClr>
            </a:outerShdw>
          </a:effectLst>
        </p:spPr>
      </p:sp>
      <p:sp>
        <p:nvSpPr>
          <p:cNvPr id="9" name="Text 7"/>
          <p:cNvSpPr/>
          <p:nvPr/>
        </p:nvSpPr>
        <p:spPr>
          <a:xfrm>
            <a:off x="3337560" y="1728216"/>
            <a:ext cx="265176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89</a:t>
            </a:r>
            <a:endParaRPr lang="en-US" sz="2400" dirty="0"/>
          </a:p>
        </p:txBody>
      </p:sp>
      <p:sp>
        <p:nvSpPr>
          <p:cNvPr id="10" name="Text 8"/>
          <p:cNvSpPr/>
          <p:nvPr/>
        </p:nvSpPr>
        <p:spPr>
          <a:xfrm>
            <a:off x="3337560" y="2221992"/>
            <a:ext cx="2651760" cy="365760"/>
          </a:xfrm>
          <a:prstGeom prst="rect">
            <a:avLst/>
          </a:prstGeom>
          <a:noFill/>
          <a:ln/>
        </p:spPr>
        <p:txBody>
          <a:bodyPr wrap="square" lIns="0" tIns="0" rIns="0" bIns="0" rtlCol="0" anchor="ctr"/>
          <a:lstStyle/>
          <a:p>
            <a:pPr marL="0" indent="0" algn="ctr">
              <a:buNone/>
            </a:pPr>
            <a:r>
              <a:rPr lang="en-US" sz="1050" dirty="0">
                <a:solidFill>
                  <a:srgbClr val="2A1E06"/>
                </a:solidFill>
                <a:latin typeface="Calibri" pitchFamily="34" charset="0"/>
                <a:ea typeface="Calibri" pitchFamily="34" charset="-122"/>
                <a:cs typeface="Calibri" pitchFamily="34" charset="-120"/>
              </a:rPr>
              <a:t>Columns (final)</a:t>
            </a:r>
            <a:endParaRPr lang="en-US" sz="1050" dirty="0"/>
          </a:p>
        </p:txBody>
      </p:sp>
      <p:sp>
        <p:nvSpPr>
          <p:cNvPr id="11" name="Shape 9"/>
          <p:cNvSpPr/>
          <p:nvPr/>
        </p:nvSpPr>
        <p:spPr>
          <a:xfrm>
            <a:off x="6126480" y="1600200"/>
            <a:ext cx="2651760" cy="1143000"/>
          </a:xfrm>
          <a:prstGeom prst="roundRect">
            <a:avLst>
              <a:gd name="adj" fmla="val 8000"/>
            </a:avLst>
          </a:prstGeom>
          <a:solidFill>
            <a:srgbClr val="B48C36"/>
          </a:solidFill>
          <a:ln/>
          <a:effectLst>
            <a:outerShdw blurRad="76200" dist="25400" dir="5400000" algn="bl" rotWithShape="0">
              <a:srgbClr val="000000">
                <a:alpha val="18000"/>
              </a:srgbClr>
            </a:outerShdw>
          </a:effectLst>
        </p:spPr>
      </p:sp>
      <p:sp>
        <p:nvSpPr>
          <p:cNvPr id="12" name="Text 10"/>
          <p:cNvSpPr/>
          <p:nvPr/>
        </p:nvSpPr>
        <p:spPr>
          <a:xfrm>
            <a:off x="6126480" y="1728216"/>
            <a:ext cx="265176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38</a:t>
            </a:r>
            <a:endParaRPr lang="en-US" sz="2400" dirty="0"/>
          </a:p>
        </p:txBody>
      </p:sp>
      <p:sp>
        <p:nvSpPr>
          <p:cNvPr id="13" name="Text 11"/>
          <p:cNvSpPr/>
          <p:nvPr/>
        </p:nvSpPr>
        <p:spPr>
          <a:xfrm>
            <a:off x="6126480" y="2221992"/>
            <a:ext cx="2651760" cy="365760"/>
          </a:xfrm>
          <a:prstGeom prst="rect">
            <a:avLst/>
          </a:prstGeom>
          <a:noFill/>
          <a:ln/>
        </p:spPr>
        <p:txBody>
          <a:bodyPr wrap="square" lIns="0" tIns="0" rIns="0" bIns="0" rtlCol="0" anchor="ctr"/>
          <a:lstStyle/>
          <a:p>
            <a:pPr marL="0" indent="0" algn="ctr">
              <a:buNone/>
            </a:pPr>
            <a:r>
              <a:rPr lang="en-US" sz="1050" dirty="0">
                <a:solidFill>
                  <a:srgbClr val="2A1E06"/>
                </a:solidFill>
                <a:latin typeface="Calibri" pitchFamily="34" charset="0"/>
                <a:ea typeface="Calibri" pitchFamily="34" charset="-122"/>
                <a:cs typeface="Calibri" pitchFamily="34" charset="-120"/>
              </a:rPr>
              <a:t>Numerical features</a:t>
            </a:r>
            <a:endParaRPr lang="en-US" sz="1050" dirty="0"/>
          </a:p>
        </p:txBody>
      </p:sp>
      <p:sp>
        <p:nvSpPr>
          <p:cNvPr id="14" name="Shape 12"/>
          <p:cNvSpPr/>
          <p:nvPr/>
        </p:nvSpPr>
        <p:spPr>
          <a:xfrm>
            <a:off x="8915400" y="1600200"/>
            <a:ext cx="2651760" cy="1143000"/>
          </a:xfrm>
          <a:prstGeom prst="roundRect">
            <a:avLst>
              <a:gd name="adj" fmla="val 8000"/>
            </a:avLst>
          </a:prstGeom>
          <a:solidFill>
            <a:srgbClr val="B48C36"/>
          </a:solidFill>
          <a:ln/>
          <a:effectLst>
            <a:outerShdw blurRad="76200" dist="25400" dir="5400000" algn="bl" rotWithShape="0">
              <a:srgbClr val="000000">
                <a:alpha val="18000"/>
              </a:srgbClr>
            </a:outerShdw>
          </a:effectLst>
        </p:spPr>
      </p:sp>
      <p:sp>
        <p:nvSpPr>
          <p:cNvPr id="15" name="Text 13"/>
          <p:cNvSpPr/>
          <p:nvPr/>
        </p:nvSpPr>
        <p:spPr>
          <a:xfrm>
            <a:off x="8915400" y="1728216"/>
            <a:ext cx="265176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43</a:t>
            </a:r>
            <a:endParaRPr lang="en-US" sz="2400" dirty="0"/>
          </a:p>
        </p:txBody>
      </p:sp>
      <p:sp>
        <p:nvSpPr>
          <p:cNvPr id="16" name="Text 14"/>
          <p:cNvSpPr/>
          <p:nvPr/>
        </p:nvSpPr>
        <p:spPr>
          <a:xfrm>
            <a:off x="8915400" y="2221992"/>
            <a:ext cx="2651760" cy="365760"/>
          </a:xfrm>
          <a:prstGeom prst="rect">
            <a:avLst/>
          </a:prstGeom>
          <a:noFill/>
          <a:ln/>
        </p:spPr>
        <p:txBody>
          <a:bodyPr wrap="square" lIns="0" tIns="0" rIns="0" bIns="0" rtlCol="0" anchor="ctr"/>
          <a:lstStyle/>
          <a:p>
            <a:pPr marL="0" indent="0" algn="ctr">
              <a:buNone/>
            </a:pPr>
            <a:r>
              <a:rPr lang="en-US" sz="1050" dirty="0">
                <a:solidFill>
                  <a:srgbClr val="2A1E06"/>
                </a:solidFill>
                <a:latin typeface="Calibri" pitchFamily="34" charset="0"/>
                <a:ea typeface="Calibri" pitchFamily="34" charset="-122"/>
                <a:cs typeface="Calibri" pitchFamily="34" charset="-120"/>
              </a:rPr>
              <a:t>Categorical features</a:t>
            </a:r>
            <a:endParaRPr lang="en-US" sz="1050" dirty="0"/>
          </a:p>
        </p:txBody>
      </p:sp>
      <p:sp>
        <p:nvSpPr>
          <p:cNvPr id="17" name="Shape 15"/>
          <p:cNvSpPr/>
          <p:nvPr/>
        </p:nvSpPr>
        <p:spPr>
          <a:xfrm>
            <a:off x="548640" y="3017520"/>
            <a:ext cx="11018520" cy="3063240"/>
          </a:xfrm>
          <a:prstGeom prst="roundRect">
            <a:avLst>
              <a:gd name="adj" fmla="val 2388"/>
            </a:avLst>
          </a:prstGeom>
          <a:solidFill>
            <a:srgbClr val="FFFFFF"/>
          </a:solidFill>
          <a:ln w="9525">
            <a:solidFill>
              <a:srgbClr val="DDDCDC"/>
            </a:solidFill>
            <a:prstDash val="solid"/>
          </a:ln>
        </p:spPr>
      </p:sp>
      <p:sp>
        <p:nvSpPr>
          <p:cNvPr id="18" name="Text 16"/>
          <p:cNvSpPr/>
          <p:nvPr/>
        </p:nvSpPr>
        <p:spPr>
          <a:xfrm>
            <a:off x="868680" y="3200400"/>
            <a:ext cx="10424160" cy="365760"/>
          </a:xfrm>
          <a:prstGeom prst="rect">
            <a:avLst/>
          </a:prstGeom>
          <a:noFill/>
          <a:ln/>
        </p:spPr>
        <p:txBody>
          <a:bodyPr wrap="square" lIns="0" tIns="0" rIns="0" bIns="0" rtlCol="0" anchor="ctr"/>
          <a:lstStyle/>
          <a:p>
            <a:pPr marL="0" indent="0">
              <a:buNone/>
            </a:pPr>
            <a:r>
              <a:rPr lang="en-US" sz="1500" b="1" dirty="0">
                <a:solidFill>
                  <a:srgbClr val="0D1C78"/>
                </a:solidFill>
                <a:latin typeface="Cambria" pitchFamily="34" charset="0"/>
                <a:ea typeface="Cambria" pitchFamily="34" charset="-122"/>
                <a:cs typeface="Cambria" pitchFamily="34" charset="-120"/>
              </a:rPr>
              <a:t>Target Variable: SalePrice</a:t>
            </a:r>
            <a:endParaRPr lang="en-US" sz="1500" dirty="0"/>
          </a:p>
        </p:txBody>
      </p:sp>
      <p:sp>
        <p:nvSpPr>
          <p:cNvPr id="19" name="Text 17"/>
          <p:cNvSpPr/>
          <p:nvPr/>
        </p:nvSpPr>
        <p:spPr>
          <a:xfrm>
            <a:off x="868680" y="3749040"/>
            <a:ext cx="2377440" cy="457200"/>
          </a:xfrm>
          <a:prstGeom prst="rect">
            <a:avLst/>
          </a:prstGeom>
          <a:noFill/>
          <a:ln/>
        </p:spPr>
        <p:txBody>
          <a:bodyPr wrap="square" lIns="0" tIns="0" rIns="0" bIns="0" rtlCol="0" anchor="ctr"/>
          <a:lstStyle/>
          <a:p>
            <a:pPr marL="0" indent="0" algn="l">
              <a:buNone/>
            </a:pPr>
            <a:r>
              <a:rPr lang="en-US" sz="1900" b="1" dirty="0">
                <a:solidFill>
                  <a:srgbClr val="B48C36"/>
                </a:solidFill>
                <a:latin typeface="Cambria" pitchFamily="34" charset="0"/>
                <a:ea typeface="Cambria" pitchFamily="34" charset="-122"/>
                <a:cs typeface="Cambria" pitchFamily="34" charset="-120"/>
              </a:rPr>
              <a:t>$180,921</a:t>
            </a:r>
            <a:endParaRPr lang="en-US" sz="1900" dirty="0"/>
          </a:p>
        </p:txBody>
      </p:sp>
      <p:sp>
        <p:nvSpPr>
          <p:cNvPr id="20" name="Text 18"/>
          <p:cNvSpPr/>
          <p:nvPr/>
        </p:nvSpPr>
        <p:spPr>
          <a:xfrm>
            <a:off x="868680" y="4224528"/>
            <a:ext cx="2377440" cy="274320"/>
          </a:xfrm>
          <a:prstGeom prst="rect">
            <a:avLst/>
          </a:prstGeom>
          <a:noFill/>
          <a:ln/>
        </p:spPr>
        <p:txBody>
          <a:bodyPr wrap="square" lIns="0" tIns="0" rIns="0" bIns="0" rtlCol="0" anchor="ctr"/>
          <a:lstStyle/>
          <a:p>
            <a:pPr marL="0" indent="0" algn="l">
              <a:buNone/>
            </a:pPr>
            <a:r>
              <a:rPr lang="en-US" sz="1000" kern="0" spc="100" dirty="0">
                <a:solidFill>
                  <a:srgbClr val="6B7280"/>
                </a:solidFill>
                <a:latin typeface="Calibri" pitchFamily="34" charset="0"/>
                <a:ea typeface="Calibri" pitchFamily="34" charset="-122"/>
                <a:cs typeface="Calibri" pitchFamily="34" charset="-120"/>
              </a:rPr>
              <a:t>MEAN</a:t>
            </a:r>
            <a:endParaRPr lang="en-US" sz="1000" dirty="0"/>
          </a:p>
        </p:txBody>
      </p:sp>
      <p:sp>
        <p:nvSpPr>
          <p:cNvPr id="21" name="Text 19"/>
          <p:cNvSpPr/>
          <p:nvPr/>
        </p:nvSpPr>
        <p:spPr>
          <a:xfrm>
            <a:off x="3474720" y="3749040"/>
            <a:ext cx="2377440" cy="457200"/>
          </a:xfrm>
          <a:prstGeom prst="rect">
            <a:avLst/>
          </a:prstGeom>
          <a:noFill/>
          <a:ln/>
        </p:spPr>
        <p:txBody>
          <a:bodyPr wrap="square" lIns="0" tIns="0" rIns="0" bIns="0" rtlCol="0" anchor="ctr"/>
          <a:lstStyle/>
          <a:p>
            <a:pPr marL="0" indent="0" algn="l">
              <a:buNone/>
            </a:pPr>
            <a:r>
              <a:rPr lang="en-US" sz="1900" b="1" dirty="0">
                <a:solidFill>
                  <a:srgbClr val="B48C36"/>
                </a:solidFill>
                <a:latin typeface="Cambria" pitchFamily="34" charset="0"/>
                <a:ea typeface="Cambria" pitchFamily="34" charset="-122"/>
                <a:cs typeface="Cambria" pitchFamily="34" charset="-120"/>
              </a:rPr>
              <a:t>$163,000</a:t>
            </a:r>
            <a:endParaRPr lang="en-US" sz="1900" dirty="0"/>
          </a:p>
        </p:txBody>
      </p:sp>
      <p:sp>
        <p:nvSpPr>
          <p:cNvPr id="22" name="Text 20"/>
          <p:cNvSpPr/>
          <p:nvPr/>
        </p:nvSpPr>
        <p:spPr>
          <a:xfrm>
            <a:off x="3474720" y="4224528"/>
            <a:ext cx="2377440" cy="274320"/>
          </a:xfrm>
          <a:prstGeom prst="rect">
            <a:avLst/>
          </a:prstGeom>
          <a:noFill/>
          <a:ln/>
        </p:spPr>
        <p:txBody>
          <a:bodyPr wrap="square" lIns="0" tIns="0" rIns="0" bIns="0" rtlCol="0" anchor="ctr"/>
          <a:lstStyle/>
          <a:p>
            <a:pPr marL="0" indent="0" algn="l">
              <a:buNone/>
            </a:pPr>
            <a:r>
              <a:rPr lang="en-US" sz="1000" kern="0" spc="100" dirty="0">
                <a:solidFill>
                  <a:srgbClr val="6B7280"/>
                </a:solidFill>
                <a:latin typeface="Calibri" pitchFamily="34" charset="0"/>
                <a:ea typeface="Calibri" pitchFamily="34" charset="-122"/>
                <a:cs typeface="Calibri" pitchFamily="34" charset="-120"/>
              </a:rPr>
              <a:t>MEDIAN</a:t>
            </a:r>
            <a:endParaRPr lang="en-US" sz="1000" dirty="0"/>
          </a:p>
        </p:txBody>
      </p:sp>
      <p:sp>
        <p:nvSpPr>
          <p:cNvPr id="23" name="Text 21"/>
          <p:cNvSpPr/>
          <p:nvPr/>
        </p:nvSpPr>
        <p:spPr>
          <a:xfrm>
            <a:off x="6080760" y="3749040"/>
            <a:ext cx="2377440" cy="457200"/>
          </a:xfrm>
          <a:prstGeom prst="rect">
            <a:avLst/>
          </a:prstGeom>
          <a:noFill/>
          <a:ln/>
        </p:spPr>
        <p:txBody>
          <a:bodyPr wrap="square" lIns="0" tIns="0" rIns="0" bIns="0" rtlCol="0" anchor="ctr"/>
          <a:lstStyle/>
          <a:p>
            <a:pPr marL="0" indent="0" algn="l">
              <a:buNone/>
            </a:pPr>
            <a:r>
              <a:rPr lang="en-US" sz="1900" b="1" dirty="0">
                <a:solidFill>
                  <a:srgbClr val="B48C36"/>
                </a:solidFill>
                <a:latin typeface="Cambria" pitchFamily="34" charset="0"/>
                <a:ea typeface="Cambria" pitchFamily="34" charset="-122"/>
                <a:cs typeface="Cambria" pitchFamily="34" charset="-120"/>
              </a:rPr>
              <a:t>$34,900</a:t>
            </a:r>
            <a:endParaRPr lang="en-US" sz="1900" dirty="0"/>
          </a:p>
        </p:txBody>
      </p:sp>
      <p:sp>
        <p:nvSpPr>
          <p:cNvPr id="24" name="Text 22"/>
          <p:cNvSpPr/>
          <p:nvPr/>
        </p:nvSpPr>
        <p:spPr>
          <a:xfrm>
            <a:off x="6080760" y="4224528"/>
            <a:ext cx="2377440" cy="274320"/>
          </a:xfrm>
          <a:prstGeom prst="rect">
            <a:avLst/>
          </a:prstGeom>
          <a:noFill/>
          <a:ln/>
        </p:spPr>
        <p:txBody>
          <a:bodyPr wrap="square" lIns="0" tIns="0" rIns="0" bIns="0" rtlCol="0" anchor="ctr"/>
          <a:lstStyle/>
          <a:p>
            <a:pPr marL="0" indent="0" algn="l">
              <a:buNone/>
            </a:pPr>
            <a:r>
              <a:rPr lang="en-US" sz="1000" kern="0" spc="100" dirty="0">
                <a:solidFill>
                  <a:srgbClr val="6B7280"/>
                </a:solidFill>
                <a:latin typeface="Calibri" pitchFamily="34" charset="0"/>
                <a:ea typeface="Calibri" pitchFamily="34" charset="-122"/>
                <a:cs typeface="Calibri" pitchFamily="34" charset="-120"/>
              </a:rPr>
              <a:t>MINIMUM</a:t>
            </a:r>
            <a:endParaRPr lang="en-US" sz="1000" dirty="0"/>
          </a:p>
        </p:txBody>
      </p:sp>
      <p:sp>
        <p:nvSpPr>
          <p:cNvPr id="25" name="Text 23"/>
          <p:cNvSpPr/>
          <p:nvPr/>
        </p:nvSpPr>
        <p:spPr>
          <a:xfrm>
            <a:off x="8686800" y="3749040"/>
            <a:ext cx="2377440" cy="457200"/>
          </a:xfrm>
          <a:prstGeom prst="rect">
            <a:avLst/>
          </a:prstGeom>
          <a:noFill/>
          <a:ln/>
        </p:spPr>
        <p:txBody>
          <a:bodyPr wrap="square" lIns="0" tIns="0" rIns="0" bIns="0" rtlCol="0" anchor="ctr"/>
          <a:lstStyle/>
          <a:p>
            <a:pPr marL="0" indent="0" algn="l">
              <a:buNone/>
            </a:pPr>
            <a:r>
              <a:rPr lang="en-US" sz="1900" b="1" dirty="0">
                <a:solidFill>
                  <a:srgbClr val="B48C36"/>
                </a:solidFill>
                <a:latin typeface="Cambria" pitchFamily="34" charset="0"/>
                <a:ea typeface="Cambria" pitchFamily="34" charset="-122"/>
                <a:cs typeface="Cambria" pitchFamily="34" charset="-120"/>
              </a:rPr>
              <a:t>$755,000</a:t>
            </a:r>
            <a:endParaRPr lang="en-US" sz="1900" dirty="0"/>
          </a:p>
        </p:txBody>
      </p:sp>
      <p:sp>
        <p:nvSpPr>
          <p:cNvPr id="26" name="Text 24"/>
          <p:cNvSpPr/>
          <p:nvPr/>
        </p:nvSpPr>
        <p:spPr>
          <a:xfrm>
            <a:off x="8686800" y="4224528"/>
            <a:ext cx="2377440" cy="274320"/>
          </a:xfrm>
          <a:prstGeom prst="rect">
            <a:avLst/>
          </a:prstGeom>
          <a:noFill/>
          <a:ln/>
        </p:spPr>
        <p:txBody>
          <a:bodyPr wrap="square" lIns="0" tIns="0" rIns="0" bIns="0" rtlCol="0" anchor="ctr"/>
          <a:lstStyle/>
          <a:p>
            <a:pPr marL="0" indent="0" algn="l">
              <a:buNone/>
            </a:pPr>
            <a:r>
              <a:rPr lang="en-US" sz="1000" kern="0" spc="100" dirty="0">
                <a:solidFill>
                  <a:srgbClr val="6B7280"/>
                </a:solidFill>
                <a:latin typeface="Calibri" pitchFamily="34" charset="0"/>
                <a:ea typeface="Calibri" pitchFamily="34" charset="-122"/>
                <a:cs typeface="Calibri" pitchFamily="34" charset="-120"/>
              </a:rPr>
              <a:t>MAXIMUM</a:t>
            </a:r>
            <a:endParaRPr lang="en-US" sz="1000" dirty="0"/>
          </a:p>
        </p:txBody>
      </p:sp>
      <p:sp>
        <p:nvSpPr>
          <p:cNvPr id="27" name="Shape 25"/>
          <p:cNvSpPr/>
          <p:nvPr/>
        </p:nvSpPr>
        <p:spPr>
          <a:xfrm>
            <a:off x="868680" y="4709160"/>
            <a:ext cx="10378440" cy="0"/>
          </a:xfrm>
          <a:prstGeom prst="line">
            <a:avLst/>
          </a:prstGeom>
          <a:noFill/>
          <a:ln w="12700">
            <a:solidFill>
              <a:srgbClr val="E5E4E4"/>
            </a:solidFill>
            <a:prstDash val="solid"/>
          </a:ln>
        </p:spPr>
      </p:sp>
      <p:sp>
        <p:nvSpPr>
          <p:cNvPr id="28" name="Text 26"/>
          <p:cNvSpPr/>
          <p:nvPr/>
        </p:nvSpPr>
        <p:spPr>
          <a:xfrm>
            <a:off x="868680" y="4892040"/>
            <a:ext cx="10378440" cy="1051560"/>
          </a:xfrm>
          <a:prstGeom prst="rect">
            <a:avLst/>
          </a:prstGeom>
          <a:noFill/>
          <a:ln/>
        </p:spPr>
        <p:txBody>
          <a:bodyPr wrap="square" rtlCol="0" anchor="t"/>
          <a:lstStyle/>
          <a:p>
            <a:pPr marL="0" indent="0">
              <a:lnSpc>
                <a:spcPct val="125000"/>
              </a:lnSpc>
              <a:buNone/>
            </a:pPr>
            <a:r>
              <a:rPr lang="en-US" sz="1200" b="1" dirty="0">
                <a:solidFill>
                  <a:srgbClr val="0D1C78"/>
                </a:solidFill>
                <a:latin typeface="Calibri" pitchFamily="34" charset="0"/>
                <a:ea typeface="Calibri" pitchFamily="34" charset="-122"/>
                <a:cs typeface="Calibri" pitchFamily="34" charset="-120"/>
              </a:rPr>
              <a:t>Note: </a:t>
            </a:r>
            <a:r>
              <a:rPr lang="en-US" sz="1200" dirty="0">
                <a:solidFill>
                  <a:srgbClr val="1F2937"/>
                </a:solidFill>
                <a:latin typeface="Calibri" pitchFamily="34" charset="0"/>
                <a:ea typeface="Calibri" pitchFamily="34" charset="-122"/>
                <a:cs typeface="Calibri" pitchFamily="34" charset="-120"/>
              </a:rPr>
              <a:t>Mean is well above the median — an early signal of high-value outliers (luxury properties) pulling the average upward. Missing values were concentrated in features like pool quality and fireplace quality, most of which are structural (the feature simply doesn't exist for that house) rather than data errors.</a:t>
            </a:r>
            <a:endParaRPr lang="en-US" sz="1200" dirty="0"/>
          </a:p>
        </p:txBody>
      </p:sp>
      <p:sp>
        <p:nvSpPr>
          <p:cNvPr id="29" name="Text 27"/>
          <p:cNvSpPr/>
          <p:nvPr/>
        </p:nvSpPr>
        <p:spPr>
          <a:xfrm>
            <a:off x="457200" y="6547104"/>
            <a:ext cx="5486400"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SmartHome Pricing Analytics</a:t>
            </a:r>
            <a:endParaRPr lang="en-US" sz="900" dirty="0"/>
          </a:p>
        </p:txBody>
      </p:sp>
      <p:sp>
        <p:nvSpPr>
          <p:cNvPr id="30" name="Text 28"/>
          <p:cNvSpPr/>
          <p:nvPr/>
        </p:nvSpPr>
        <p:spPr>
          <a:xfrm>
            <a:off x="11277295" y="6547104"/>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EDED"/>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34440"/>
          </a:xfrm>
          <a:prstGeom prst="rect">
            <a:avLst/>
          </a:prstGeom>
          <a:solidFill>
            <a:srgbClr val="0D1C78"/>
          </a:solidFill>
          <a:ln/>
        </p:spPr>
      </p:sp>
      <p:sp>
        <p:nvSpPr>
          <p:cNvPr id="3" name="Text 1"/>
          <p:cNvSpPr/>
          <p:nvPr/>
        </p:nvSpPr>
        <p:spPr>
          <a:xfrm>
            <a:off x="548640" y="201168"/>
            <a:ext cx="10515600" cy="566928"/>
          </a:xfrm>
          <a:prstGeom prst="rect">
            <a:avLst/>
          </a:prstGeom>
          <a:noFill/>
          <a:ln/>
        </p:spPr>
        <p:txBody>
          <a:bodyPr wrap="square" lIns="0" tIns="0" rIns="0" bIns="0" rtlCol="0" anchor="ctr"/>
          <a:lstStyle/>
          <a:p>
            <a:pPr marL="0" indent="0" algn="l">
              <a:buNone/>
            </a:pPr>
            <a:r>
              <a:rPr lang="en-US" sz="3000" b="1" dirty="0">
                <a:solidFill>
                  <a:srgbClr val="D4AF6A"/>
                </a:solidFill>
                <a:latin typeface="Cambria" pitchFamily="34" charset="0"/>
                <a:ea typeface="Cambria" pitchFamily="34" charset="-122"/>
                <a:cs typeface="Cambria" pitchFamily="34" charset="-120"/>
              </a:rPr>
              <a:t>Data Cleaning</a:t>
            </a:r>
            <a:endParaRPr lang="en-US" sz="3000" dirty="0"/>
          </a:p>
        </p:txBody>
      </p:sp>
      <p:sp>
        <p:nvSpPr>
          <p:cNvPr id="4" name="Text 2"/>
          <p:cNvSpPr/>
          <p:nvPr/>
        </p:nvSpPr>
        <p:spPr>
          <a:xfrm>
            <a:off x="548640" y="749808"/>
            <a:ext cx="10789920" cy="365760"/>
          </a:xfrm>
          <a:prstGeom prst="rect">
            <a:avLst/>
          </a:prstGeom>
          <a:noFill/>
          <a:ln/>
        </p:spPr>
        <p:txBody>
          <a:bodyPr wrap="square" lIns="0" tIns="0" rIns="0" bIns="0" rtlCol="0" anchor="ctr"/>
          <a:lstStyle/>
          <a:p>
            <a:pPr marL="0" indent="0" algn="l">
              <a:buNone/>
            </a:pPr>
            <a:r>
              <a:rPr lang="en-US" sz="1300" i="1" dirty="0">
                <a:solidFill>
                  <a:srgbClr val="FFFFFF"/>
                </a:solidFill>
                <a:latin typeface="Calibri" pitchFamily="34" charset="0"/>
                <a:ea typeface="Calibri" pitchFamily="34" charset="-122"/>
                <a:cs typeface="Calibri" pitchFamily="34" charset="-120"/>
              </a:rPr>
              <a:t>Turning raw, messy data into an analysis-ready dataset</a:t>
            </a:r>
            <a:endParaRPr lang="en-US" sz="1300" dirty="0"/>
          </a:p>
        </p:txBody>
      </p:sp>
      <p:sp>
        <p:nvSpPr>
          <p:cNvPr id="5" name="Shape 3"/>
          <p:cNvSpPr/>
          <p:nvPr/>
        </p:nvSpPr>
        <p:spPr>
          <a:xfrm>
            <a:off x="548640" y="1600200"/>
            <a:ext cx="5349240" cy="1828800"/>
          </a:xfrm>
          <a:prstGeom prst="roundRect">
            <a:avLst>
              <a:gd name="adj" fmla="val 4000"/>
            </a:avLst>
          </a:prstGeom>
          <a:solidFill>
            <a:srgbClr val="FFFFFF"/>
          </a:solidFill>
          <a:ln w="9525">
            <a:solidFill>
              <a:srgbClr val="DDDCDC"/>
            </a:solidFill>
            <a:prstDash val="solid"/>
          </a:ln>
        </p:spPr>
      </p:sp>
      <p:sp>
        <p:nvSpPr>
          <p:cNvPr id="6" name="Shape 4"/>
          <p:cNvSpPr/>
          <p:nvPr/>
        </p:nvSpPr>
        <p:spPr>
          <a:xfrm>
            <a:off x="804672" y="1856232"/>
            <a:ext cx="457200" cy="457200"/>
          </a:xfrm>
          <a:prstGeom prst="roundRect">
            <a:avLst>
              <a:gd name="adj" fmla="val 12000"/>
            </a:avLst>
          </a:prstGeom>
          <a:solidFill>
            <a:srgbClr val="0D1C78"/>
          </a:solidFill>
          <a:ln/>
        </p:spPr>
      </p:sp>
      <p:sp>
        <p:nvSpPr>
          <p:cNvPr id="7" name="Text 5"/>
          <p:cNvSpPr/>
          <p:nvPr/>
        </p:nvSpPr>
        <p:spPr>
          <a:xfrm>
            <a:off x="804672" y="1856232"/>
            <a:ext cx="457200" cy="457200"/>
          </a:xfrm>
          <a:prstGeom prst="rect">
            <a:avLst/>
          </a:prstGeom>
          <a:noFill/>
          <a:ln/>
        </p:spPr>
        <p:txBody>
          <a:bodyPr wrap="square" lIns="0" tIns="0" rIns="0" bIns="0" rtlCol="0" anchor="ctr"/>
          <a:lstStyle/>
          <a:p>
            <a:pPr marL="0" indent="0" algn="ctr">
              <a:buNone/>
            </a:pPr>
            <a:r>
              <a:rPr lang="en-US" sz="1800" b="1" dirty="0">
                <a:solidFill>
                  <a:srgbClr val="D4AF6A"/>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1463040" y="1819656"/>
            <a:ext cx="4160520" cy="384048"/>
          </a:xfrm>
          <a:prstGeom prst="rect">
            <a:avLst/>
          </a:prstGeom>
          <a:noFill/>
          <a:ln/>
        </p:spPr>
        <p:txBody>
          <a:bodyPr wrap="square" lIns="0" tIns="0" rIns="0" bIns="0" rtlCol="0" anchor="ctr"/>
          <a:lstStyle/>
          <a:p>
            <a:pPr marL="0" indent="0">
              <a:buNone/>
            </a:pPr>
            <a:r>
              <a:rPr lang="en-US" sz="1450" b="1" dirty="0">
                <a:solidFill>
                  <a:srgbClr val="0D1C78"/>
                </a:solidFill>
                <a:latin typeface="Cambria" pitchFamily="34" charset="0"/>
                <a:ea typeface="Cambria" pitchFamily="34" charset="-122"/>
                <a:cs typeface="Cambria" pitchFamily="34" charset="-120"/>
              </a:rPr>
              <a:t>Missing values</a:t>
            </a:r>
            <a:endParaRPr lang="en-US" sz="1450" dirty="0"/>
          </a:p>
        </p:txBody>
      </p:sp>
      <p:sp>
        <p:nvSpPr>
          <p:cNvPr id="9" name="Text 7"/>
          <p:cNvSpPr/>
          <p:nvPr/>
        </p:nvSpPr>
        <p:spPr>
          <a:xfrm>
            <a:off x="1463040" y="2221992"/>
            <a:ext cx="4160520" cy="1051560"/>
          </a:xfrm>
          <a:prstGeom prst="rect">
            <a:avLst/>
          </a:prstGeom>
          <a:noFill/>
          <a:ln/>
        </p:spPr>
        <p:txBody>
          <a:bodyPr wrap="square" lIns="0" tIns="0" rIns="0" bIns="0" rtlCol="0" anchor="t"/>
          <a:lstStyle/>
          <a:p>
            <a:pPr marL="0" indent="0">
              <a:lnSpc>
                <a:spcPct val="120000"/>
              </a:lnSpc>
              <a:buNone/>
            </a:pPr>
            <a:r>
              <a:rPr lang="en-US" sz="1100" dirty="0">
                <a:solidFill>
                  <a:srgbClr val="1F2937"/>
                </a:solidFill>
                <a:latin typeface="Calibri" pitchFamily="34" charset="0"/>
                <a:ea typeface="Calibri" pitchFamily="34" charset="-122"/>
                <a:cs typeface="Calibri" pitchFamily="34" charset="-120"/>
              </a:rPr>
              <a:t>Structural gaps (e.g. no pool, no garage) filled with a domain-aware placeholder; numeric gaps filled with 0, mode, or median as appropriate</a:t>
            </a:r>
            <a:endParaRPr lang="en-US" sz="1100" dirty="0"/>
          </a:p>
        </p:txBody>
      </p:sp>
      <p:sp>
        <p:nvSpPr>
          <p:cNvPr id="10" name="Shape 8"/>
          <p:cNvSpPr/>
          <p:nvPr/>
        </p:nvSpPr>
        <p:spPr>
          <a:xfrm>
            <a:off x="6217920" y="1600200"/>
            <a:ext cx="5349240" cy="1828800"/>
          </a:xfrm>
          <a:prstGeom prst="roundRect">
            <a:avLst>
              <a:gd name="adj" fmla="val 4000"/>
            </a:avLst>
          </a:prstGeom>
          <a:solidFill>
            <a:srgbClr val="FFFFFF"/>
          </a:solidFill>
          <a:ln w="9525">
            <a:solidFill>
              <a:srgbClr val="DDDCDC"/>
            </a:solidFill>
            <a:prstDash val="solid"/>
          </a:ln>
        </p:spPr>
      </p:sp>
      <p:sp>
        <p:nvSpPr>
          <p:cNvPr id="11" name="Shape 9"/>
          <p:cNvSpPr/>
          <p:nvPr/>
        </p:nvSpPr>
        <p:spPr>
          <a:xfrm>
            <a:off x="6473952" y="1856232"/>
            <a:ext cx="457200" cy="457200"/>
          </a:xfrm>
          <a:prstGeom prst="roundRect">
            <a:avLst>
              <a:gd name="adj" fmla="val 12000"/>
            </a:avLst>
          </a:prstGeom>
          <a:solidFill>
            <a:srgbClr val="0D1C78"/>
          </a:solidFill>
          <a:ln/>
        </p:spPr>
      </p:sp>
      <p:sp>
        <p:nvSpPr>
          <p:cNvPr id="12" name="Text 10"/>
          <p:cNvSpPr/>
          <p:nvPr/>
        </p:nvSpPr>
        <p:spPr>
          <a:xfrm>
            <a:off x="6473952" y="1856232"/>
            <a:ext cx="457200" cy="457200"/>
          </a:xfrm>
          <a:prstGeom prst="rect">
            <a:avLst/>
          </a:prstGeom>
          <a:noFill/>
          <a:ln/>
        </p:spPr>
        <p:txBody>
          <a:bodyPr wrap="square" lIns="0" tIns="0" rIns="0" bIns="0" rtlCol="0" anchor="ctr"/>
          <a:lstStyle/>
          <a:p>
            <a:pPr marL="0" indent="0" algn="ctr">
              <a:buNone/>
            </a:pPr>
            <a:r>
              <a:rPr lang="en-US" sz="1800" b="1" dirty="0">
                <a:solidFill>
                  <a:srgbClr val="D4AF6A"/>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7132320" y="1819656"/>
            <a:ext cx="4160520" cy="384048"/>
          </a:xfrm>
          <a:prstGeom prst="rect">
            <a:avLst/>
          </a:prstGeom>
          <a:noFill/>
          <a:ln/>
        </p:spPr>
        <p:txBody>
          <a:bodyPr wrap="square" lIns="0" tIns="0" rIns="0" bIns="0" rtlCol="0" anchor="ctr"/>
          <a:lstStyle/>
          <a:p>
            <a:pPr marL="0" indent="0">
              <a:buNone/>
            </a:pPr>
            <a:r>
              <a:rPr lang="en-US" sz="1450" b="1" dirty="0">
                <a:solidFill>
                  <a:srgbClr val="0D1C78"/>
                </a:solidFill>
                <a:latin typeface="Cambria" pitchFamily="34" charset="0"/>
                <a:ea typeface="Cambria" pitchFamily="34" charset="-122"/>
                <a:cs typeface="Cambria" pitchFamily="34" charset="-120"/>
              </a:rPr>
              <a:t>Duplicates &amp; empty columns</a:t>
            </a:r>
            <a:endParaRPr lang="en-US" sz="1450" dirty="0"/>
          </a:p>
        </p:txBody>
      </p:sp>
      <p:sp>
        <p:nvSpPr>
          <p:cNvPr id="14" name="Text 12"/>
          <p:cNvSpPr/>
          <p:nvPr/>
        </p:nvSpPr>
        <p:spPr>
          <a:xfrm>
            <a:off x="7132320" y="2221992"/>
            <a:ext cx="4160520" cy="1051560"/>
          </a:xfrm>
          <a:prstGeom prst="rect">
            <a:avLst/>
          </a:prstGeom>
          <a:noFill/>
          <a:ln/>
        </p:spPr>
        <p:txBody>
          <a:bodyPr wrap="square" lIns="0" tIns="0" rIns="0" bIns="0" rtlCol="0" anchor="t"/>
          <a:lstStyle/>
          <a:p>
            <a:pPr marL="0" indent="0">
              <a:lnSpc>
                <a:spcPct val="120000"/>
              </a:lnSpc>
              <a:buNone/>
            </a:pPr>
            <a:r>
              <a:rPr lang="en-US" sz="1100" dirty="0">
                <a:solidFill>
                  <a:srgbClr val="1F2937"/>
                </a:solidFill>
                <a:latin typeface="Calibri" pitchFamily="34" charset="0"/>
                <a:ea typeface="Calibri" pitchFamily="34" charset="-122"/>
                <a:cs typeface="Calibri" pitchFamily="34" charset="-120"/>
              </a:rPr>
              <a:t>Duplicate rows removed; fully empty columns dropped</a:t>
            </a:r>
            <a:endParaRPr lang="en-US" sz="1100" dirty="0"/>
          </a:p>
        </p:txBody>
      </p:sp>
      <p:sp>
        <p:nvSpPr>
          <p:cNvPr id="15" name="Shape 13"/>
          <p:cNvSpPr/>
          <p:nvPr/>
        </p:nvSpPr>
        <p:spPr>
          <a:xfrm>
            <a:off x="548640" y="3611880"/>
            <a:ext cx="5349240" cy="1828800"/>
          </a:xfrm>
          <a:prstGeom prst="roundRect">
            <a:avLst>
              <a:gd name="adj" fmla="val 4000"/>
            </a:avLst>
          </a:prstGeom>
          <a:solidFill>
            <a:srgbClr val="FFFFFF"/>
          </a:solidFill>
          <a:ln w="9525">
            <a:solidFill>
              <a:srgbClr val="DDDCDC"/>
            </a:solidFill>
            <a:prstDash val="solid"/>
          </a:ln>
        </p:spPr>
      </p:sp>
      <p:sp>
        <p:nvSpPr>
          <p:cNvPr id="16" name="Shape 14"/>
          <p:cNvSpPr/>
          <p:nvPr/>
        </p:nvSpPr>
        <p:spPr>
          <a:xfrm>
            <a:off x="804672" y="3867912"/>
            <a:ext cx="457200" cy="457200"/>
          </a:xfrm>
          <a:prstGeom prst="roundRect">
            <a:avLst>
              <a:gd name="adj" fmla="val 12000"/>
            </a:avLst>
          </a:prstGeom>
          <a:solidFill>
            <a:srgbClr val="0D1C78"/>
          </a:solidFill>
          <a:ln/>
        </p:spPr>
      </p:sp>
      <p:sp>
        <p:nvSpPr>
          <p:cNvPr id="17" name="Text 15"/>
          <p:cNvSpPr/>
          <p:nvPr/>
        </p:nvSpPr>
        <p:spPr>
          <a:xfrm>
            <a:off x="804672" y="3867912"/>
            <a:ext cx="457200" cy="457200"/>
          </a:xfrm>
          <a:prstGeom prst="rect">
            <a:avLst/>
          </a:prstGeom>
          <a:noFill/>
          <a:ln/>
        </p:spPr>
        <p:txBody>
          <a:bodyPr wrap="square" lIns="0" tIns="0" rIns="0" bIns="0" rtlCol="0" anchor="ctr"/>
          <a:lstStyle/>
          <a:p>
            <a:pPr marL="0" indent="0" algn="ctr">
              <a:buNone/>
            </a:pPr>
            <a:r>
              <a:rPr lang="en-US" sz="1800" b="1" dirty="0">
                <a:solidFill>
                  <a:srgbClr val="D4AF6A"/>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1463040" y="3831336"/>
            <a:ext cx="4160520" cy="384048"/>
          </a:xfrm>
          <a:prstGeom prst="rect">
            <a:avLst/>
          </a:prstGeom>
          <a:noFill/>
          <a:ln/>
        </p:spPr>
        <p:txBody>
          <a:bodyPr wrap="square" lIns="0" tIns="0" rIns="0" bIns="0" rtlCol="0" anchor="ctr"/>
          <a:lstStyle/>
          <a:p>
            <a:pPr marL="0" indent="0">
              <a:buNone/>
            </a:pPr>
            <a:r>
              <a:rPr lang="en-US" sz="1450" b="1" dirty="0">
                <a:solidFill>
                  <a:srgbClr val="0D1C78"/>
                </a:solidFill>
                <a:latin typeface="Cambria" pitchFamily="34" charset="0"/>
                <a:ea typeface="Cambria" pitchFamily="34" charset="-122"/>
                <a:cs typeface="Cambria" pitchFamily="34" charset="-120"/>
              </a:rPr>
              <a:t>Text formatting</a:t>
            </a:r>
            <a:endParaRPr lang="en-US" sz="1450" dirty="0"/>
          </a:p>
        </p:txBody>
      </p:sp>
      <p:sp>
        <p:nvSpPr>
          <p:cNvPr id="19" name="Text 17"/>
          <p:cNvSpPr/>
          <p:nvPr/>
        </p:nvSpPr>
        <p:spPr>
          <a:xfrm>
            <a:off x="1463040" y="4233672"/>
            <a:ext cx="4160520" cy="1051560"/>
          </a:xfrm>
          <a:prstGeom prst="rect">
            <a:avLst/>
          </a:prstGeom>
          <a:noFill/>
          <a:ln/>
        </p:spPr>
        <p:txBody>
          <a:bodyPr wrap="square" lIns="0" tIns="0" rIns="0" bIns="0" rtlCol="0" anchor="t"/>
          <a:lstStyle/>
          <a:p>
            <a:pPr marL="0" indent="0">
              <a:lnSpc>
                <a:spcPct val="120000"/>
              </a:lnSpc>
              <a:buNone/>
            </a:pPr>
            <a:r>
              <a:rPr lang="en-US" sz="1100" dirty="0">
                <a:solidFill>
                  <a:srgbClr val="1F2937"/>
                </a:solidFill>
                <a:latin typeface="Calibri" pitchFamily="34" charset="0"/>
                <a:ea typeface="Calibri" pitchFamily="34" charset="-122"/>
                <a:cs typeface="Calibri" pitchFamily="34" charset="-120"/>
              </a:rPr>
              <a:t>Whitespace trimmed from categorical fields for consistency</a:t>
            </a:r>
            <a:endParaRPr lang="en-US" sz="1100" dirty="0"/>
          </a:p>
        </p:txBody>
      </p:sp>
      <p:sp>
        <p:nvSpPr>
          <p:cNvPr id="20" name="Shape 18"/>
          <p:cNvSpPr/>
          <p:nvPr/>
        </p:nvSpPr>
        <p:spPr>
          <a:xfrm>
            <a:off x="6217920" y="3611880"/>
            <a:ext cx="5349240" cy="1828800"/>
          </a:xfrm>
          <a:prstGeom prst="roundRect">
            <a:avLst>
              <a:gd name="adj" fmla="val 4000"/>
            </a:avLst>
          </a:prstGeom>
          <a:solidFill>
            <a:srgbClr val="FFFFFF"/>
          </a:solidFill>
          <a:ln w="9525">
            <a:solidFill>
              <a:srgbClr val="DDDCDC"/>
            </a:solidFill>
            <a:prstDash val="solid"/>
          </a:ln>
        </p:spPr>
      </p:sp>
      <p:sp>
        <p:nvSpPr>
          <p:cNvPr id="21" name="Shape 19"/>
          <p:cNvSpPr/>
          <p:nvPr/>
        </p:nvSpPr>
        <p:spPr>
          <a:xfrm>
            <a:off x="6473952" y="3867912"/>
            <a:ext cx="457200" cy="457200"/>
          </a:xfrm>
          <a:prstGeom prst="roundRect">
            <a:avLst>
              <a:gd name="adj" fmla="val 12000"/>
            </a:avLst>
          </a:prstGeom>
          <a:solidFill>
            <a:srgbClr val="0D1C78"/>
          </a:solidFill>
          <a:ln/>
        </p:spPr>
      </p:sp>
      <p:sp>
        <p:nvSpPr>
          <p:cNvPr id="22" name="Text 20"/>
          <p:cNvSpPr/>
          <p:nvPr/>
        </p:nvSpPr>
        <p:spPr>
          <a:xfrm>
            <a:off x="6473952" y="3867912"/>
            <a:ext cx="457200" cy="457200"/>
          </a:xfrm>
          <a:prstGeom prst="rect">
            <a:avLst/>
          </a:prstGeom>
          <a:noFill/>
          <a:ln/>
        </p:spPr>
        <p:txBody>
          <a:bodyPr wrap="square" lIns="0" tIns="0" rIns="0" bIns="0" rtlCol="0" anchor="ctr"/>
          <a:lstStyle/>
          <a:p>
            <a:pPr marL="0" indent="0" algn="ctr">
              <a:buNone/>
            </a:pPr>
            <a:r>
              <a:rPr lang="en-US" sz="1800" b="1" dirty="0">
                <a:solidFill>
                  <a:srgbClr val="D4AF6A"/>
                </a:solidFill>
                <a:latin typeface="Cambria" pitchFamily="34" charset="0"/>
                <a:ea typeface="Cambria" pitchFamily="34" charset="-122"/>
                <a:cs typeface="Cambria" pitchFamily="34" charset="-120"/>
              </a:rPr>
              <a:t>4</a:t>
            </a:r>
            <a:endParaRPr lang="en-US" sz="1800" dirty="0"/>
          </a:p>
        </p:txBody>
      </p:sp>
      <p:sp>
        <p:nvSpPr>
          <p:cNvPr id="23" name="Text 21"/>
          <p:cNvSpPr/>
          <p:nvPr/>
        </p:nvSpPr>
        <p:spPr>
          <a:xfrm>
            <a:off x="7132320" y="3831336"/>
            <a:ext cx="4160520" cy="384048"/>
          </a:xfrm>
          <a:prstGeom prst="rect">
            <a:avLst/>
          </a:prstGeom>
          <a:noFill/>
          <a:ln/>
        </p:spPr>
        <p:txBody>
          <a:bodyPr wrap="square" lIns="0" tIns="0" rIns="0" bIns="0" rtlCol="0" anchor="ctr"/>
          <a:lstStyle/>
          <a:p>
            <a:pPr marL="0" indent="0">
              <a:buNone/>
            </a:pPr>
            <a:r>
              <a:rPr lang="en-US" sz="1450" b="1" dirty="0">
                <a:solidFill>
                  <a:srgbClr val="0D1C78"/>
                </a:solidFill>
                <a:latin typeface="Cambria" pitchFamily="34" charset="0"/>
                <a:ea typeface="Cambria" pitchFamily="34" charset="-122"/>
                <a:cs typeface="Cambria" pitchFamily="34" charset="-120"/>
              </a:rPr>
              <a:t>Outliers</a:t>
            </a:r>
            <a:endParaRPr lang="en-US" sz="1450" dirty="0"/>
          </a:p>
        </p:txBody>
      </p:sp>
      <p:sp>
        <p:nvSpPr>
          <p:cNvPr id="24" name="Text 22"/>
          <p:cNvSpPr/>
          <p:nvPr/>
        </p:nvSpPr>
        <p:spPr>
          <a:xfrm>
            <a:off x="7132320" y="4233672"/>
            <a:ext cx="4160520" cy="1051560"/>
          </a:xfrm>
          <a:prstGeom prst="rect">
            <a:avLst/>
          </a:prstGeom>
          <a:noFill/>
          <a:ln/>
        </p:spPr>
        <p:txBody>
          <a:bodyPr wrap="square" lIns="0" tIns="0" rIns="0" bIns="0" rtlCol="0" anchor="t"/>
          <a:lstStyle/>
          <a:p>
            <a:pPr marL="0" indent="0">
              <a:lnSpc>
                <a:spcPct val="120000"/>
              </a:lnSpc>
              <a:buNone/>
            </a:pPr>
            <a:r>
              <a:rPr lang="en-US" sz="1100" dirty="0">
                <a:solidFill>
                  <a:srgbClr val="1F2937"/>
                </a:solidFill>
                <a:latin typeface="Calibri" pitchFamily="34" charset="0"/>
                <a:ea typeface="Calibri" pitchFamily="34" charset="-122"/>
                <a:cs typeface="Calibri" pitchFamily="34" charset="-120"/>
              </a:rPr>
              <a:t>Reviewed statistically; legitimate luxury properties were kept, not deleted, since they reflect real market variation</a:t>
            </a:r>
            <a:endParaRPr lang="en-US" sz="1100" dirty="0"/>
          </a:p>
        </p:txBody>
      </p:sp>
      <p:sp>
        <p:nvSpPr>
          <p:cNvPr id="25" name="Text 23"/>
          <p:cNvSpPr/>
          <p:nvPr/>
        </p:nvSpPr>
        <p:spPr>
          <a:xfrm>
            <a:off x="457200" y="6547104"/>
            <a:ext cx="5486400"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SmartHome Pricing Analytics</a:t>
            </a:r>
            <a:endParaRPr lang="en-US" sz="900" dirty="0"/>
          </a:p>
        </p:txBody>
      </p:sp>
      <p:sp>
        <p:nvSpPr>
          <p:cNvPr id="26" name="Text 24"/>
          <p:cNvSpPr/>
          <p:nvPr/>
        </p:nvSpPr>
        <p:spPr>
          <a:xfrm>
            <a:off x="11277295" y="6547104"/>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EDED"/>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34440"/>
          </a:xfrm>
          <a:prstGeom prst="rect">
            <a:avLst/>
          </a:prstGeom>
          <a:solidFill>
            <a:srgbClr val="0D1C78"/>
          </a:solidFill>
          <a:ln/>
        </p:spPr>
      </p:sp>
      <p:sp>
        <p:nvSpPr>
          <p:cNvPr id="3" name="Text 1"/>
          <p:cNvSpPr/>
          <p:nvPr/>
        </p:nvSpPr>
        <p:spPr>
          <a:xfrm>
            <a:off x="548640" y="201168"/>
            <a:ext cx="10515600" cy="566928"/>
          </a:xfrm>
          <a:prstGeom prst="rect">
            <a:avLst/>
          </a:prstGeom>
          <a:noFill/>
          <a:ln/>
        </p:spPr>
        <p:txBody>
          <a:bodyPr wrap="square" lIns="0" tIns="0" rIns="0" bIns="0" rtlCol="0" anchor="ctr"/>
          <a:lstStyle/>
          <a:p>
            <a:pPr marL="0" indent="0" algn="l">
              <a:buNone/>
            </a:pPr>
            <a:r>
              <a:rPr lang="en-US" sz="3000" b="1" dirty="0">
                <a:solidFill>
                  <a:srgbClr val="D4AF6A"/>
                </a:solidFill>
                <a:latin typeface="Cambria" pitchFamily="34" charset="0"/>
                <a:ea typeface="Cambria" pitchFamily="34" charset="-122"/>
                <a:cs typeface="Cambria" pitchFamily="34" charset="-120"/>
              </a:rPr>
              <a:t>Feature Engineering</a:t>
            </a:r>
            <a:endParaRPr lang="en-US" sz="3000" dirty="0"/>
          </a:p>
        </p:txBody>
      </p:sp>
      <p:sp>
        <p:nvSpPr>
          <p:cNvPr id="4" name="Text 2"/>
          <p:cNvSpPr/>
          <p:nvPr/>
        </p:nvSpPr>
        <p:spPr>
          <a:xfrm>
            <a:off x="548640" y="749808"/>
            <a:ext cx="10789920" cy="365760"/>
          </a:xfrm>
          <a:prstGeom prst="rect">
            <a:avLst/>
          </a:prstGeom>
          <a:noFill/>
          <a:ln/>
        </p:spPr>
        <p:txBody>
          <a:bodyPr wrap="square" lIns="0" tIns="0" rIns="0" bIns="0" rtlCol="0" anchor="ctr"/>
          <a:lstStyle/>
          <a:p>
            <a:pPr marL="0" indent="0" algn="l">
              <a:buNone/>
            </a:pPr>
            <a:r>
              <a:rPr lang="en-US" sz="1300" i="1" dirty="0">
                <a:solidFill>
                  <a:srgbClr val="FFFFFF"/>
                </a:solidFill>
                <a:latin typeface="Calibri" pitchFamily="34" charset="0"/>
                <a:ea typeface="Calibri" pitchFamily="34" charset="-122"/>
                <a:cs typeface="Calibri" pitchFamily="34" charset="-120"/>
              </a:rPr>
              <a:t>Eight new features built to sharpen the model's view of value</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18520" cy="4480560"/>
        </p:xfrm>
        <a:graphic>
          <a:graphicData uri="http://schemas.openxmlformats.org/drawingml/2006/table">
            <a:tbl>
              <a:tblPr/>
              <a:tblGrid>
                <a:gridCol w="3017520">
                  <a:extLst>
                    <a:ext uri="{9D8B030D-6E8A-4147-A177-3AD203B41FA5}">
                      <a16:colId xmlns:a16="http://schemas.microsoft.com/office/drawing/2014/main" val="20000"/>
                    </a:ext>
                  </a:extLst>
                </a:gridCol>
                <a:gridCol w="379476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68580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New Feature</a:t>
                      </a:r>
                      <a:endParaRPr lang="en-US" sz="1200" dirty="0">
                        <a:latin typeface="Calibri" charset="0"/>
                        <a:ea typeface="Calibri" charset="0"/>
                        <a:cs typeface="Calibri" charset="0"/>
                      </a:endParaRPr>
                    </a:p>
                  </a:txBody>
                  <a:tcPr anchor="ctr">
                    <a:lnL w="6350" cap="flat" cmpd="sng" algn="ctr">
                      <a:solidFill>
                        <a:srgbClr val="E5E4E4"/>
                      </a:solidFill>
                      <a:prstDash val="solid"/>
                      <a:round/>
                      <a:headEnd type="none" w="med" len="med"/>
                      <a:tailEnd type="none" w="med" len="med"/>
                    </a:lnL>
                    <a:lnR w="6350" cap="flat" cmpd="sng" algn="ctr">
                      <a:solidFill>
                        <a:srgbClr val="E5E4E4"/>
                      </a:solidFill>
                      <a:prstDash val="solid"/>
                      <a:round/>
                      <a:headEnd type="none" w="med" len="med"/>
                      <a:tailEnd type="none" w="med" len="med"/>
                    </a:lnR>
                    <a:lnT w="6350" cap="flat" cmpd="sng" algn="ctr">
                      <a:solidFill>
                        <a:srgbClr val="E5E4E4"/>
                      </a:solidFill>
                      <a:prstDash val="solid"/>
                      <a:round/>
                      <a:headEnd type="none" w="med" len="med"/>
                      <a:tailEnd type="none" w="med" len="med"/>
                    </a:lnT>
                    <a:lnB w="6350" cap="flat" cmpd="sng" algn="ctr">
                      <a:solidFill>
                        <a:srgbClr val="E5E4E4"/>
                      </a:solidFill>
                      <a:prstDash val="solid"/>
                      <a:round/>
                      <a:headEnd type="none" w="med" len="med"/>
                      <a:tailEnd type="none" w="med" len="med"/>
                    </a:lnB>
                    <a:solidFill>
                      <a:srgbClr val="0D1C78"/>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Derivation</a:t>
                      </a:r>
                      <a:endParaRPr lang="en-US" sz="1200" dirty="0">
                        <a:latin typeface="Calibri" charset="0"/>
                        <a:ea typeface="Calibri" charset="0"/>
                        <a:cs typeface="Calibri" charset="0"/>
                      </a:endParaRPr>
                    </a:p>
                  </a:txBody>
                  <a:tcPr anchor="ctr">
                    <a:lnL w="6350" cap="flat" cmpd="sng" algn="ctr">
                      <a:solidFill>
                        <a:srgbClr val="E5E4E4"/>
                      </a:solidFill>
                      <a:prstDash val="solid"/>
                      <a:round/>
                      <a:headEnd type="none" w="med" len="med"/>
                      <a:tailEnd type="none" w="med" len="med"/>
                    </a:lnL>
                    <a:lnR w="6350" cap="flat" cmpd="sng" algn="ctr">
                      <a:solidFill>
                        <a:srgbClr val="E5E4E4"/>
                      </a:solidFill>
                      <a:prstDash val="solid"/>
                      <a:round/>
                      <a:headEnd type="none" w="med" len="med"/>
                      <a:tailEnd type="none" w="med" len="med"/>
                    </a:lnR>
                    <a:lnT w="6350" cap="flat" cmpd="sng" algn="ctr">
                      <a:solidFill>
                        <a:srgbClr val="E5E4E4"/>
                      </a:solidFill>
                      <a:prstDash val="solid"/>
                      <a:round/>
                      <a:headEnd type="none" w="med" len="med"/>
                      <a:tailEnd type="none" w="med" len="med"/>
                    </a:lnT>
                    <a:lnB w="6350" cap="flat" cmpd="sng" algn="ctr">
                      <a:solidFill>
                        <a:srgbClr val="E5E4E4"/>
                      </a:solidFill>
                      <a:prstDash val="solid"/>
                      <a:round/>
                      <a:headEnd type="none" w="med" len="med"/>
                      <a:tailEnd type="none" w="med" len="med"/>
                    </a:lnB>
                    <a:solidFill>
                      <a:srgbClr val="0D1C78"/>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Purpose</a:t>
                      </a:r>
                      <a:endParaRPr lang="en-US" sz="1200" dirty="0">
                        <a:latin typeface="Calibri" charset="0"/>
                        <a:ea typeface="Calibri" charset="0"/>
                        <a:cs typeface="Calibri" charset="0"/>
                      </a:endParaRPr>
                    </a:p>
                  </a:txBody>
                  <a:tcPr anchor="ctr">
                    <a:lnL w="6350" cap="flat" cmpd="sng" algn="ctr">
                      <a:solidFill>
                        <a:srgbClr val="E5E4E4"/>
                      </a:solidFill>
                      <a:prstDash val="solid"/>
                      <a:round/>
                      <a:headEnd type="none" w="med" len="med"/>
                      <a:tailEnd type="none" w="med" len="med"/>
                    </a:lnL>
                    <a:lnR w="6350" cap="flat" cmpd="sng" algn="ctr">
                      <a:solidFill>
                        <a:srgbClr val="E5E4E4"/>
                      </a:solidFill>
                      <a:prstDash val="solid"/>
                      <a:round/>
                      <a:headEnd type="none" w="med" len="med"/>
                      <a:tailEnd type="none" w="med" len="med"/>
                    </a:lnR>
                    <a:lnT w="6350" cap="flat" cmpd="sng" algn="ctr">
                      <a:solidFill>
                        <a:srgbClr val="E5E4E4"/>
                      </a:solidFill>
                      <a:prstDash val="solid"/>
                      <a:round/>
                      <a:headEnd type="none" w="med" len="med"/>
                      <a:tailEnd type="none" w="med" len="med"/>
                    </a:lnT>
                    <a:lnB w="6350" cap="flat" cmpd="sng" algn="ctr">
                      <a:solidFill>
                        <a:srgbClr val="E5E4E4"/>
                      </a:solidFill>
                      <a:prstDash val="solid"/>
                      <a:round/>
                      <a:headEnd type="none" w="med" len="med"/>
                      <a:tailEnd type="none" w="med" len="med"/>
                    </a:lnB>
                    <a:solidFill>
                      <a:srgbClr val="0D1C78"/>
                    </a:solidFill>
                  </a:tcPr>
                </a:tc>
                <a:extLst>
                  <a:ext uri="{0D108BD9-81ED-4DB2-BD59-A6C34878D82A}">
                    <a16:rowId xmlns:a16="http://schemas.microsoft.com/office/drawing/2014/main" val="10000"/>
                  </a:ext>
                </a:extLst>
              </a:tr>
              <a:tr h="685800">
                <a:tc>
                  <a:txBody>
                    <a:bodyPr/>
                    <a:lstStyle/>
                    <a:p>
                      <a:pPr marL="0" indent="0">
                        <a:buNone/>
                      </a:pPr>
                      <a:r>
                        <a:rPr lang="en-US" sz="1150" b="1" dirty="0">
                          <a:solidFill>
                            <a:srgbClr val="0D1C78"/>
                          </a:solidFill>
                          <a:latin typeface="Calibri" pitchFamily="34" charset="0"/>
                          <a:ea typeface="Calibri" pitchFamily="34" charset="-122"/>
                          <a:cs typeface="Calibri" pitchFamily="34" charset="-120"/>
                        </a:rPr>
                        <a:t>HouseAge</a:t>
                      </a:r>
                      <a:endParaRPr lang="en-US" sz="1150" dirty="0">
                        <a:latin typeface="Calibri" charset="0"/>
                        <a:ea typeface="Calibri" charset="0"/>
                        <a:cs typeface="Calibri" charset="0"/>
                      </a:endParaRPr>
                    </a:p>
                  </a:txBody>
                  <a:tcPr anchor="ctr">
                    <a:lnL w="6350" cap="flat" cmpd="sng" algn="ctr">
                      <a:solidFill>
                        <a:srgbClr val="E5E4E4"/>
                      </a:solidFill>
                      <a:prstDash val="solid"/>
                      <a:round/>
                      <a:headEnd type="none" w="med" len="med"/>
                      <a:tailEnd type="none" w="med" len="med"/>
                    </a:lnL>
                    <a:lnR w="6350" cap="flat" cmpd="sng" algn="ctr">
                      <a:solidFill>
                        <a:srgbClr val="E5E4E4"/>
                      </a:solidFill>
                      <a:prstDash val="solid"/>
                      <a:round/>
                      <a:headEnd type="none" w="med" len="med"/>
                      <a:tailEnd type="none" w="med" len="med"/>
                    </a:lnR>
                    <a:lnT w="6350" cap="flat" cmpd="sng" algn="ctr">
                      <a:solidFill>
                        <a:srgbClr val="E5E4E4"/>
                      </a:solidFill>
                      <a:prstDash val="solid"/>
                      <a:round/>
                      <a:headEnd type="none" w="med" len="med"/>
                      <a:tailEnd type="none" w="med" len="med"/>
                    </a:lnT>
                    <a:lnB w="6350" cap="flat" cmpd="sng" algn="ctr">
                      <a:solidFill>
                        <a:srgbClr val="E5E4E4"/>
                      </a:solidFill>
                      <a:prstDash val="solid"/>
                      <a:round/>
                      <a:headEnd type="none" w="med" len="med"/>
                      <a:tailEnd type="none" w="med" len="med"/>
                    </a:lnB>
                    <a:solidFill>
                      <a:srgbClr val="FFFFFF"/>
                    </a:solidFill>
                  </a:tcPr>
                </a:tc>
                <a:tc>
                  <a:txBody>
                    <a:bodyPr/>
                    <a:lstStyle/>
                    <a:p>
                      <a:pPr marL="0" indent="0">
                        <a:buNone/>
                      </a:pPr>
                      <a:r>
                        <a:rPr lang="en-US" sz="1150" i="1" dirty="0">
                          <a:solidFill>
                            <a:srgbClr val="1F2937"/>
                          </a:solidFill>
                          <a:latin typeface="Calibri" pitchFamily="34" charset="0"/>
                          <a:ea typeface="Calibri" pitchFamily="34" charset="-122"/>
                          <a:cs typeface="Calibri" pitchFamily="34" charset="-120"/>
                        </a:rPr>
                        <a:t>YrSold − YearBuilt</a:t>
                      </a:r>
                      <a:endParaRPr lang="en-US" sz="1150" dirty="0">
                        <a:latin typeface="Calibri" charset="0"/>
                        <a:ea typeface="Calibri" charset="0"/>
                        <a:cs typeface="Calibri" charset="0"/>
                      </a:endParaRPr>
                    </a:p>
                  </a:txBody>
                  <a:tcPr anchor="ctr">
                    <a:lnL w="6350" cap="flat" cmpd="sng" algn="ctr">
                      <a:solidFill>
                        <a:srgbClr val="E5E4E4"/>
                      </a:solidFill>
                      <a:prstDash val="solid"/>
                      <a:round/>
                      <a:headEnd type="none" w="med" len="med"/>
                      <a:tailEnd type="none" w="med" len="med"/>
                    </a:lnL>
                    <a:lnR w="6350" cap="flat" cmpd="sng" algn="ctr">
                      <a:solidFill>
                        <a:srgbClr val="E5E4E4"/>
                      </a:solidFill>
                      <a:prstDash val="solid"/>
                      <a:round/>
                      <a:headEnd type="none" w="med" len="med"/>
                      <a:tailEnd type="none" w="med" len="med"/>
                    </a:lnR>
                    <a:lnT w="6350" cap="flat" cmpd="sng" algn="ctr">
                      <a:solidFill>
                        <a:srgbClr val="E5E4E4"/>
                      </a:solidFill>
                      <a:prstDash val="solid"/>
                      <a:round/>
                      <a:headEnd type="none" w="med" len="med"/>
                      <a:tailEnd type="none" w="med" len="med"/>
                    </a:lnT>
                    <a:lnB w="6350" cap="flat" cmpd="sng" algn="ctr">
                      <a:solidFill>
                        <a:srgbClr val="E5E4E4"/>
                      </a:solidFill>
                      <a:prstDash val="solid"/>
                      <a:round/>
                      <a:headEnd type="none" w="med" len="med"/>
                      <a:tailEnd type="none" w="med" len="med"/>
                    </a:lnB>
                    <a:solidFill>
                      <a:srgbClr val="FFFFFF"/>
                    </a:solidFill>
                  </a:tcPr>
                </a:tc>
                <a:tc>
                  <a:txBody>
                    <a:bodyPr/>
                    <a:lstStyle/>
                    <a:p>
                      <a:pPr marL="0" indent="0">
                        <a:buNone/>
                      </a:pPr>
                      <a:r>
                        <a:rPr lang="en-US" sz="1150" dirty="0">
                          <a:solidFill>
                            <a:srgbClr val="1F2937"/>
                          </a:solidFill>
                          <a:latin typeface="Calibri" pitchFamily="34" charset="0"/>
                          <a:ea typeface="Calibri" pitchFamily="34" charset="-122"/>
                          <a:cs typeface="Calibri" pitchFamily="34" charset="-120"/>
                        </a:rPr>
                        <a:t>Age of the house at sale</a:t>
                      </a:r>
                      <a:endParaRPr lang="en-US" sz="1150" dirty="0">
                        <a:latin typeface="Calibri" charset="0"/>
                        <a:ea typeface="Calibri" charset="0"/>
                        <a:cs typeface="Calibri" charset="0"/>
                      </a:endParaRPr>
                    </a:p>
                  </a:txBody>
                  <a:tcPr anchor="ctr">
                    <a:lnL w="6350" cap="flat" cmpd="sng" algn="ctr">
                      <a:solidFill>
                        <a:srgbClr val="E5E4E4"/>
                      </a:solidFill>
                      <a:prstDash val="solid"/>
                      <a:round/>
                      <a:headEnd type="none" w="med" len="med"/>
                      <a:tailEnd type="none" w="med" len="med"/>
                    </a:lnL>
                    <a:lnR w="6350" cap="flat" cmpd="sng" algn="ctr">
                      <a:solidFill>
                        <a:srgbClr val="E5E4E4"/>
                      </a:solidFill>
                      <a:prstDash val="solid"/>
                      <a:round/>
                      <a:headEnd type="none" w="med" len="med"/>
                      <a:tailEnd type="none" w="med" len="med"/>
                    </a:lnR>
                    <a:lnT w="6350" cap="flat" cmpd="sng" algn="ctr">
                      <a:solidFill>
                        <a:srgbClr val="E5E4E4"/>
                      </a:solidFill>
                      <a:prstDash val="solid"/>
                      <a:round/>
                      <a:headEnd type="none" w="med" len="med"/>
                      <a:tailEnd type="none" w="med" len="med"/>
                    </a:lnT>
                    <a:lnB w="6350" cap="flat" cmpd="sng" algn="ctr">
                      <a:solidFill>
                        <a:srgbClr val="E5E4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marL="0" indent="0">
                        <a:buNone/>
                      </a:pPr>
                      <a:r>
                        <a:rPr lang="en-US" sz="1150" b="1" dirty="0">
                          <a:solidFill>
                            <a:srgbClr val="0D1C78"/>
                          </a:solidFill>
                          <a:latin typeface="Calibri" pitchFamily="34" charset="0"/>
                          <a:ea typeface="Calibri" pitchFamily="34" charset="-122"/>
                          <a:cs typeface="Calibri" pitchFamily="34" charset="-120"/>
                        </a:rPr>
                        <a:t>YearsSinceRemodel</a:t>
                      </a:r>
                      <a:endParaRPr lang="en-US" sz="1150" dirty="0">
                        <a:latin typeface="Calibri" charset="0"/>
                        <a:ea typeface="Calibri" charset="0"/>
                        <a:cs typeface="Calibri" charset="0"/>
                      </a:endParaRPr>
                    </a:p>
                  </a:txBody>
                  <a:tcPr anchor="ctr">
                    <a:lnL w="6350" cap="flat" cmpd="sng" algn="ctr">
                      <a:solidFill>
                        <a:srgbClr val="E5E4E4"/>
                      </a:solidFill>
                      <a:prstDash val="solid"/>
                      <a:round/>
                      <a:headEnd type="none" w="med" len="med"/>
                      <a:tailEnd type="none" w="med" len="med"/>
                    </a:lnL>
                    <a:lnR w="6350" cap="flat" cmpd="sng" algn="ctr">
                      <a:solidFill>
                        <a:srgbClr val="E5E4E4"/>
                      </a:solidFill>
                      <a:prstDash val="solid"/>
                      <a:round/>
                      <a:headEnd type="none" w="med" len="med"/>
                      <a:tailEnd type="none" w="med" len="med"/>
                    </a:lnR>
                    <a:lnT w="6350" cap="flat" cmpd="sng" algn="ctr">
                      <a:solidFill>
                        <a:srgbClr val="E5E4E4"/>
                      </a:solidFill>
                      <a:prstDash val="solid"/>
                      <a:round/>
                      <a:headEnd type="none" w="med" len="med"/>
                      <a:tailEnd type="none" w="med" len="med"/>
                    </a:lnT>
                    <a:lnB w="6350" cap="flat" cmpd="sng" algn="ctr">
                      <a:solidFill>
                        <a:srgbClr val="E5E4E4"/>
                      </a:solidFill>
                      <a:prstDash val="solid"/>
                      <a:round/>
                      <a:headEnd type="none" w="med" len="med"/>
                      <a:tailEnd type="none" w="med" len="med"/>
                    </a:lnB>
                    <a:solidFill>
                      <a:srgbClr val="F5F4F4"/>
                    </a:solidFill>
                  </a:tcPr>
                </a:tc>
                <a:tc>
                  <a:txBody>
                    <a:bodyPr/>
                    <a:lstStyle/>
                    <a:p>
                      <a:pPr marL="0" indent="0">
                        <a:buNone/>
                      </a:pPr>
                      <a:r>
                        <a:rPr lang="en-US" sz="1150" i="1" dirty="0">
                          <a:solidFill>
                            <a:srgbClr val="1F2937"/>
                          </a:solidFill>
                          <a:latin typeface="Calibri" pitchFamily="34" charset="0"/>
                          <a:ea typeface="Calibri" pitchFamily="34" charset="-122"/>
                          <a:cs typeface="Calibri" pitchFamily="34" charset="-120"/>
                        </a:rPr>
                        <a:t>YrSold − YearRemodAdd</a:t>
                      </a:r>
                      <a:endParaRPr lang="en-US" sz="1150" dirty="0">
                        <a:latin typeface="Calibri" charset="0"/>
                        <a:ea typeface="Calibri" charset="0"/>
                        <a:cs typeface="Calibri" charset="0"/>
                      </a:endParaRPr>
                    </a:p>
                  </a:txBody>
                  <a:tcPr anchor="ctr">
                    <a:lnL w="6350" cap="flat" cmpd="sng" algn="ctr">
                      <a:solidFill>
                        <a:srgbClr val="E5E4E4"/>
                      </a:solidFill>
                      <a:prstDash val="solid"/>
                      <a:round/>
                      <a:headEnd type="none" w="med" len="med"/>
                      <a:tailEnd type="none" w="med" len="med"/>
                    </a:lnL>
                    <a:lnR w="6350" cap="flat" cmpd="sng" algn="ctr">
                      <a:solidFill>
                        <a:srgbClr val="E5E4E4"/>
                      </a:solidFill>
                      <a:prstDash val="solid"/>
                      <a:round/>
                      <a:headEnd type="none" w="med" len="med"/>
                      <a:tailEnd type="none" w="med" len="med"/>
                    </a:lnR>
                    <a:lnT w="6350" cap="flat" cmpd="sng" algn="ctr">
                      <a:solidFill>
                        <a:srgbClr val="E5E4E4"/>
                      </a:solidFill>
                      <a:prstDash val="solid"/>
                      <a:round/>
                      <a:headEnd type="none" w="med" len="med"/>
                      <a:tailEnd type="none" w="med" len="med"/>
                    </a:lnT>
                    <a:lnB w="6350" cap="flat" cmpd="sng" algn="ctr">
                      <a:solidFill>
                        <a:srgbClr val="E5E4E4"/>
                      </a:solidFill>
                      <a:prstDash val="solid"/>
                      <a:round/>
                      <a:headEnd type="none" w="med" len="med"/>
                      <a:tailEnd type="none" w="med" len="med"/>
                    </a:lnB>
                    <a:solidFill>
                      <a:srgbClr val="F5F4F4"/>
                    </a:solidFill>
                  </a:tcPr>
                </a:tc>
                <a:tc>
                  <a:txBody>
                    <a:bodyPr/>
                    <a:lstStyle/>
                    <a:p>
                      <a:pPr marL="0" indent="0">
                        <a:buNone/>
                      </a:pPr>
                      <a:r>
                        <a:rPr lang="en-US" sz="1150" dirty="0">
                          <a:solidFill>
                            <a:srgbClr val="1F2937"/>
                          </a:solidFill>
                          <a:latin typeface="Calibri" pitchFamily="34" charset="0"/>
                          <a:ea typeface="Calibri" pitchFamily="34" charset="-122"/>
                          <a:cs typeface="Calibri" pitchFamily="34" charset="-120"/>
                        </a:rPr>
                        <a:t>Recency of renovation</a:t>
                      </a:r>
                      <a:endParaRPr lang="en-US" sz="1150" dirty="0">
                        <a:latin typeface="Calibri" charset="0"/>
                        <a:ea typeface="Calibri" charset="0"/>
                        <a:cs typeface="Calibri" charset="0"/>
                      </a:endParaRPr>
                    </a:p>
                  </a:txBody>
                  <a:tcPr anchor="ctr">
                    <a:lnL w="6350" cap="flat" cmpd="sng" algn="ctr">
                      <a:solidFill>
                        <a:srgbClr val="E5E4E4"/>
                      </a:solidFill>
                      <a:prstDash val="solid"/>
                      <a:round/>
                      <a:headEnd type="none" w="med" len="med"/>
                      <a:tailEnd type="none" w="med" len="med"/>
                    </a:lnL>
                    <a:lnR w="6350" cap="flat" cmpd="sng" algn="ctr">
                      <a:solidFill>
                        <a:srgbClr val="E5E4E4"/>
                      </a:solidFill>
                      <a:prstDash val="solid"/>
                      <a:round/>
                      <a:headEnd type="none" w="med" len="med"/>
                      <a:tailEnd type="none" w="med" len="med"/>
                    </a:lnR>
                    <a:lnT w="6350" cap="flat" cmpd="sng" algn="ctr">
                      <a:solidFill>
                        <a:srgbClr val="E5E4E4"/>
                      </a:solidFill>
                      <a:prstDash val="solid"/>
                      <a:round/>
                      <a:headEnd type="none" w="med" len="med"/>
                      <a:tailEnd type="none" w="med" len="med"/>
                    </a:lnT>
                    <a:lnB w="6350" cap="flat" cmpd="sng" algn="ctr">
                      <a:solidFill>
                        <a:srgbClr val="E5E4E4"/>
                      </a:solidFill>
                      <a:prstDash val="solid"/>
                      <a:round/>
                      <a:headEnd type="none" w="med" len="med"/>
                      <a:tailEnd type="none" w="med" len="med"/>
                    </a:lnB>
                    <a:solidFill>
                      <a:srgbClr val="F5F4F4"/>
                    </a:solidFill>
                  </a:tcPr>
                </a:tc>
                <a:extLst>
                  <a:ext uri="{0D108BD9-81ED-4DB2-BD59-A6C34878D82A}">
                    <a16:rowId xmlns:a16="http://schemas.microsoft.com/office/drawing/2014/main" val="10002"/>
                  </a:ext>
                </a:extLst>
              </a:tr>
              <a:tr h="685800">
                <a:tc>
                  <a:txBody>
                    <a:bodyPr/>
                    <a:lstStyle/>
                    <a:p>
                      <a:pPr marL="0" indent="0">
                        <a:buNone/>
                      </a:pPr>
                      <a:r>
                        <a:rPr lang="en-US" sz="1150" b="1" dirty="0">
                          <a:solidFill>
                            <a:srgbClr val="0D1C78"/>
                          </a:solidFill>
                          <a:latin typeface="Calibri" pitchFamily="34" charset="0"/>
                          <a:ea typeface="Calibri" pitchFamily="34" charset="-122"/>
                          <a:cs typeface="Calibri" pitchFamily="34" charset="-120"/>
                        </a:rPr>
                        <a:t>TotalSF</a:t>
                      </a:r>
                      <a:endParaRPr lang="en-US" sz="1150" dirty="0">
                        <a:latin typeface="Calibri" charset="0"/>
                        <a:ea typeface="Calibri" charset="0"/>
                        <a:cs typeface="Calibri" charset="0"/>
                      </a:endParaRPr>
                    </a:p>
                  </a:txBody>
                  <a:tcPr anchor="ctr">
                    <a:lnL w="6350" cap="flat" cmpd="sng" algn="ctr">
                      <a:solidFill>
                        <a:srgbClr val="E5E4E4"/>
                      </a:solidFill>
                      <a:prstDash val="solid"/>
                      <a:round/>
                      <a:headEnd type="none" w="med" len="med"/>
                      <a:tailEnd type="none" w="med" len="med"/>
                    </a:lnL>
                    <a:lnR w="6350" cap="flat" cmpd="sng" algn="ctr">
                      <a:solidFill>
                        <a:srgbClr val="E5E4E4"/>
                      </a:solidFill>
                      <a:prstDash val="solid"/>
                      <a:round/>
                      <a:headEnd type="none" w="med" len="med"/>
                      <a:tailEnd type="none" w="med" len="med"/>
                    </a:lnR>
                    <a:lnT w="6350" cap="flat" cmpd="sng" algn="ctr">
                      <a:solidFill>
                        <a:srgbClr val="E5E4E4"/>
                      </a:solidFill>
                      <a:prstDash val="solid"/>
                      <a:round/>
                      <a:headEnd type="none" w="med" len="med"/>
                      <a:tailEnd type="none" w="med" len="med"/>
                    </a:lnT>
                    <a:lnB w="6350" cap="flat" cmpd="sng" algn="ctr">
                      <a:solidFill>
                        <a:srgbClr val="E5E4E4"/>
                      </a:solidFill>
                      <a:prstDash val="solid"/>
                      <a:round/>
                      <a:headEnd type="none" w="med" len="med"/>
                      <a:tailEnd type="none" w="med" len="med"/>
                    </a:lnB>
                    <a:solidFill>
                      <a:srgbClr val="FFFFFF"/>
                    </a:solidFill>
                  </a:tcPr>
                </a:tc>
                <a:tc>
                  <a:txBody>
                    <a:bodyPr/>
                    <a:lstStyle/>
                    <a:p>
                      <a:pPr marL="0" indent="0">
                        <a:buNone/>
                      </a:pPr>
                      <a:r>
                        <a:rPr lang="en-US" sz="1150" i="1" dirty="0">
                          <a:solidFill>
                            <a:srgbClr val="1F2937"/>
                          </a:solidFill>
                          <a:latin typeface="Calibri" pitchFamily="34" charset="0"/>
                          <a:ea typeface="Calibri" pitchFamily="34" charset="-122"/>
                          <a:cs typeface="Calibri" pitchFamily="34" charset="-120"/>
                        </a:rPr>
                        <a:t>Basement + 1st + 2nd floor</a:t>
                      </a:r>
                      <a:endParaRPr lang="en-US" sz="1150" dirty="0">
                        <a:latin typeface="Calibri" charset="0"/>
                        <a:ea typeface="Calibri" charset="0"/>
                        <a:cs typeface="Calibri" charset="0"/>
                      </a:endParaRPr>
                    </a:p>
                  </a:txBody>
                  <a:tcPr anchor="ctr">
                    <a:lnL w="6350" cap="flat" cmpd="sng" algn="ctr">
                      <a:solidFill>
                        <a:srgbClr val="E5E4E4"/>
                      </a:solidFill>
                      <a:prstDash val="solid"/>
                      <a:round/>
                      <a:headEnd type="none" w="med" len="med"/>
                      <a:tailEnd type="none" w="med" len="med"/>
                    </a:lnL>
                    <a:lnR w="6350" cap="flat" cmpd="sng" algn="ctr">
                      <a:solidFill>
                        <a:srgbClr val="E5E4E4"/>
                      </a:solidFill>
                      <a:prstDash val="solid"/>
                      <a:round/>
                      <a:headEnd type="none" w="med" len="med"/>
                      <a:tailEnd type="none" w="med" len="med"/>
                    </a:lnR>
                    <a:lnT w="6350" cap="flat" cmpd="sng" algn="ctr">
                      <a:solidFill>
                        <a:srgbClr val="E5E4E4"/>
                      </a:solidFill>
                      <a:prstDash val="solid"/>
                      <a:round/>
                      <a:headEnd type="none" w="med" len="med"/>
                      <a:tailEnd type="none" w="med" len="med"/>
                    </a:lnT>
                    <a:lnB w="6350" cap="flat" cmpd="sng" algn="ctr">
                      <a:solidFill>
                        <a:srgbClr val="E5E4E4"/>
                      </a:solidFill>
                      <a:prstDash val="solid"/>
                      <a:round/>
                      <a:headEnd type="none" w="med" len="med"/>
                      <a:tailEnd type="none" w="med" len="med"/>
                    </a:lnB>
                    <a:solidFill>
                      <a:srgbClr val="FFFFFF"/>
                    </a:solidFill>
                  </a:tcPr>
                </a:tc>
                <a:tc>
                  <a:txBody>
                    <a:bodyPr/>
                    <a:lstStyle/>
                    <a:p>
                      <a:pPr marL="0" indent="0">
                        <a:buNone/>
                      </a:pPr>
                      <a:r>
                        <a:rPr lang="en-US" sz="1150" dirty="0">
                          <a:solidFill>
                            <a:srgbClr val="1F2937"/>
                          </a:solidFill>
                          <a:latin typeface="Calibri" pitchFamily="34" charset="0"/>
                          <a:ea typeface="Calibri" pitchFamily="34" charset="-122"/>
                          <a:cs typeface="Calibri" pitchFamily="34" charset="-120"/>
                        </a:rPr>
                        <a:t>True total living area</a:t>
                      </a:r>
                      <a:endParaRPr lang="en-US" sz="1150" dirty="0">
                        <a:latin typeface="Calibri" charset="0"/>
                        <a:ea typeface="Calibri" charset="0"/>
                        <a:cs typeface="Calibri" charset="0"/>
                      </a:endParaRPr>
                    </a:p>
                  </a:txBody>
                  <a:tcPr anchor="ctr">
                    <a:lnL w="6350" cap="flat" cmpd="sng" algn="ctr">
                      <a:solidFill>
                        <a:srgbClr val="E5E4E4"/>
                      </a:solidFill>
                      <a:prstDash val="solid"/>
                      <a:round/>
                      <a:headEnd type="none" w="med" len="med"/>
                      <a:tailEnd type="none" w="med" len="med"/>
                    </a:lnL>
                    <a:lnR w="6350" cap="flat" cmpd="sng" algn="ctr">
                      <a:solidFill>
                        <a:srgbClr val="E5E4E4"/>
                      </a:solidFill>
                      <a:prstDash val="solid"/>
                      <a:round/>
                      <a:headEnd type="none" w="med" len="med"/>
                      <a:tailEnd type="none" w="med" len="med"/>
                    </a:lnR>
                    <a:lnT w="6350" cap="flat" cmpd="sng" algn="ctr">
                      <a:solidFill>
                        <a:srgbClr val="E5E4E4"/>
                      </a:solidFill>
                      <a:prstDash val="solid"/>
                      <a:round/>
                      <a:headEnd type="none" w="med" len="med"/>
                      <a:tailEnd type="none" w="med" len="med"/>
                    </a:lnT>
                    <a:lnB w="6350" cap="flat" cmpd="sng" algn="ctr">
                      <a:solidFill>
                        <a:srgbClr val="E5E4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85800">
                <a:tc>
                  <a:txBody>
                    <a:bodyPr/>
                    <a:lstStyle/>
                    <a:p>
                      <a:pPr marL="0" indent="0">
                        <a:buNone/>
                      </a:pPr>
                      <a:r>
                        <a:rPr lang="en-US" sz="1150" b="1" dirty="0">
                          <a:solidFill>
                            <a:srgbClr val="0D1C78"/>
                          </a:solidFill>
                          <a:latin typeface="Calibri" pitchFamily="34" charset="0"/>
                          <a:ea typeface="Calibri" pitchFamily="34" charset="-122"/>
                          <a:cs typeface="Calibri" pitchFamily="34" charset="-120"/>
                        </a:rPr>
                        <a:t>TotalBathrooms</a:t>
                      </a:r>
                      <a:endParaRPr lang="en-US" sz="1150" dirty="0">
                        <a:latin typeface="Calibri" charset="0"/>
                        <a:ea typeface="Calibri" charset="0"/>
                        <a:cs typeface="Calibri" charset="0"/>
                      </a:endParaRPr>
                    </a:p>
                  </a:txBody>
                  <a:tcPr anchor="ctr">
                    <a:lnL w="6350" cap="flat" cmpd="sng" algn="ctr">
                      <a:solidFill>
                        <a:srgbClr val="E5E4E4"/>
                      </a:solidFill>
                      <a:prstDash val="solid"/>
                      <a:round/>
                      <a:headEnd type="none" w="med" len="med"/>
                      <a:tailEnd type="none" w="med" len="med"/>
                    </a:lnL>
                    <a:lnR w="6350" cap="flat" cmpd="sng" algn="ctr">
                      <a:solidFill>
                        <a:srgbClr val="E5E4E4"/>
                      </a:solidFill>
                      <a:prstDash val="solid"/>
                      <a:round/>
                      <a:headEnd type="none" w="med" len="med"/>
                      <a:tailEnd type="none" w="med" len="med"/>
                    </a:lnR>
                    <a:lnT w="6350" cap="flat" cmpd="sng" algn="ctr">
                      <a:solidFill>
                        <a:srgbClr val="E5E4E4"/>
                      </a:solidFill>
                      <a:prstDash val="solid"/>
                      <a:round/>
                      <a:headEnd type="none" w="med" len="med"/>
                      <a:tailEnd type="none" w="med" len="med"/>
                    </a:lnT>
                    <a:lnB w="6350" cap="flat" cmpd="sng" algn="ctr">
                      <a:solidFill>
                        <a:srgbClr val="E5E4E4"/>
                      </a:solidFill>
                      <a:prstDash val="solid"/>
                      <a:round/>
                      <a:headEnd type="none" w="med" len="med"/>
                      <a:tailEnd type="none" w="med" len="med"/>
                    </a:lnB>
                    <a:solidFill>
                      <a:srgbClr val="F5F4F4"/>
                    </a:solidFill>
                  </a:tcPr>
                </a:tc>
                <a:tc>
                  <a:txBody>
                    <a:bodyPr/>
                    <a:lstStyle/>
                    <a:p>
                      <a:pPr marL="0" indent="0">
                        <a:buNone/>
                      </a:pPr>
                      <a:r>
                        <a:rPr lang="en-US" sz="1150" i="1" dirty="0">
                          <a:solidFill>
                            <a:srgbClr val="1F2937"/>
                          </a:solidFill>
                          <a:latin typeface="Calibri" pitchFamily="34" charset="0"/>
                          <a:ea typeface="Calibri" pitchFamily="34" charset="-122"/>
                          <a:cs typeface="Calibri" pitchFamily="34" charset="-120"/>
                        </a:rPr>
                        <a:t>Weighted sum of all bath columns</a:t>
                      </a:r>
                      <a:endParaRPr lang="en-US" sz="1150" dirty="0">
                        <a:latin typeface="Calibri" charset="0"/>
                        <a:ea typeface="Calibri" charset="0"/>
                        <a:cs typeface="Calibri" charset="0"/>
                      </a:endParaRPr>
                    </a:p>
                  </a:txBody>
                  <a:tcPr anchor="ctr">
                    <a:lnL w="6350" cap="flat" cmpd="sng" algn="ctr">
                      <a:solidFill>
                        <a:srgbClr val="E5E4E4"/>
                      </a:solidFill>
                      <a:prstDash val="solid"/>
                      <a:round/>
                      <a:headEnd type="none" w="med" len="med"/>
                      <a:tailEnd type="none" w="med" len="med"/>
                    </a:lnL>
                    <a:lnR w="6350" cap="flat" cmpd="sng" algn="ctr">
                      <a:solidFill>
                        <a:srgbClr val="E5E4E4"/>
                      </a:solidFill>
                      <a:prstDash val="solid"/>
                      <a:round/>
                      <a:headEnd type="none" w="med" len="med"/>
                      <a:tailEnd type="none" w="med" len="med"/>
                    </a:lnR>
                    <a:lnT w="6350" cap="flat" cmpd="sng" algn="ctr">
                      <a:solidFill>
                        <a:srgbClr val="E5E4E4"/>
                      </a:solidFill>
                      <a:prstDash val="solid"/>
                      <a:round/>
                      <a:headEnd type="none" w="med" len="med"/>
                      <a:tailEnd type="none" w="med" len="med"/>
                    </a:lnT>
                    <a:lnB w="6350" cap="flat" cmpd="sng" algn="ctr">
                      <a:solidFill>
                        <a:srgbClr val="E5E4E4"/>
                      </a:solidFill>
                      <a:prstDash val="solid"/>
                      <a:round/>
                      <a:headEnd type="none" w="med" len="med"/>
                      <a:tailEnd type="none" w="med" len="med"/>
                    </a:lnB>
                    <a:solidFill>
                      <a:srgbClr val="F5F4F4"/>
                    </a:solidFill>
                  </a:tcPr>
                </a:tc>
                <a:tc>
                  <a:txBody>
                    <a:bodyPr/>
                    <a:lstStyle/>
                    <a:p>
                      <a:pPr marL="0" indent="0">
                        <a:buNone/>
                      </a:pPr>
                      <a:r>
                        <a:rPr lang="en-US" sz="1150" dirty="0">
                          <a:solidFill>
                            <a:srgbClr val="1F2937"/>
                          </a:solidFill>
                          <a:latin typeface="Calibri" pitchFamily="34" charset="0"/>
                          <a:ea typeface="Calibri" pitchFamily="34" charset="-122"/>
                          <a:cs typeface="Calibri" pitchFamily="34" charset="-120"/>
                        </a:rPr>
                        <a:t>Single combined bathroom count</a:t>
                      </a:r>
                      <a:endParaRPr lang="en-US" sz="1150" dirty="0">
                        <a:latin typeface="Calibri" charset="0"/>
                        <a:ea typeface="Calibri" charset="0"/>
                        <a:cs typeface="Calibri" charset="0"/>
                      </a:endParaRPr>
                    </a:p>
                  </a:txBody>
                  <a:tcPr anchor="ctr">
                    <a:lnL w="6350" cap="flat" cmpd="sng" algn="ctr">
                      <a:solidFill>
                        <a:srgbClr val="E5E4E4"/>
                      </a:solidFill>
                      <a:prstDash val="solid"/>
                      <a:round/>
                      <a:headEnd type="none" w="med" len="med"/>
                      <a:tailEnd type="none" w="med" len="med"/>
                    </a:lnL>
                    <a:lnR w="6350" cap="flat" cmpd="sng" algn="ctr">
                      <a:solidFill>
                        <a:srgbClr val="E5E4E4"/>
                      </a:solidFill>
                      <a:prstDash val="solid"/>
                      <a:round/>
                      <a:headEnd type="none" w="med" len="med"/>
                      <a:tailEnd type="none" w="med" len="med"/>
                    </a:lnR>
                    <a:lnT w="6350" cap="flat" cmpd="sng" algn="ctr">
                      <a:solidFill>
                        <a:srgbClr val="E5E4E4"/>
                      </a:solidFill>
                      <a:prstDash val="solid"/>
                      <a:round/>
                      <a:headEnd type="none" w="med" len="med"/>
                      <a:tailEnd type="none" w="med" len="med"/>
                    </a:lnT>
                    <a:lnB w="6350" cap="flat" cmpd="sng" algn="ctr">
                      <a:solidFill>
                        <a:srgbClr val="E5E4E4"/>
                      </a:solidFill>
                      <a:prstDash val="solid"/>
                      <a:round/>
                      <a:headEnd type="none" w="med" len="med"/>
                      <a:tailEnd type="none" w="med" len="med"/>
                    </a:lnB>
                    <a:solidFill>
                      <a:srgbClr val="F5F4F4"/>
                    </a:solidFill>
                  </a:tcPr>
                </a:tc>
                <a:extLst>
                  <a:ext uri="{0D108BD9-81ED-4DB2-BD59-A6C34878D82A}">
                    <a16:rowId xmlns:a16="http://schemas.microsoft.com/office/drawing/2014/main" val="10004"/>
                  </a:ext>
                </a:extLst>
              </a:tr>
              <a:tr h="685800">
                <a:tc>
                  <a:txBody>
                    <a:bodyPr/>
                    <a:lstStyle/>
                    <a:p>
                      <a:pPr marL="0" indent="0">
                        <a:buNone/>
                      </a:pPr>
                      <a:r>
                        <a:rPr lang="en-US" sz="1150" b="1" dirty="0">
                          <a:solidFill>
                            <a:srgbClr val="0D1C78"/>
                          </a:solidFill>
                          <a:latin typeface="Calibri" pitchFamily="34" charset="0"/>
                          <a:ea typeface="Calibri" pitchFamily="34" charset="-122"/>
                          <a:cs typeface="Calibri" pitchFamily="34" charset="-120"/>
                        </a:rPr>
                        <a:t>IsRemodeled</a:t>
                      </a:r>
                      <a:endParaRPr lang="en-US" sz="1150" dirty="0">
                        <a:latin typeface="Calibri" charset="0"/>
                        <a:ea typeface="Calibri" charset="0"/>
                        <a:cs typeface="Calibri" charset="0"/>
                      </a:endParaRPr>
                    </a:p>
                  </a:txBody>
                  <a:tcPr anchor="ctr">
                    <a:lnL w="6350" cap="flat" cmpd="sng" algn="ctr">
                      <a:solidFill>
                        <a:srgbClr val="E5E4E4"/>
                      </a:solidFill>
                      <a:prstDash val="solid"/>
                      <a:round/>
                      <a:headEnd type="none" w="med" len="med"/>
                      <a:tailEnd type="none" w="med" len="med"/>
                    </a:lnL>
                    <a:lnR w="6350" cap="flat" cmpd="sng" algn="ctr">
                      <a:solidFill>
                        <a:srgbClr val="E5E4E4"/>
                      </a:solidFill>
                      <a:prstDash val="solid"/>
                      <a:round/>
                      <a:headEnd type="none" w="med" len="med"/>
                      <a:tailEnd type="none" w="med" len="med"/>
                    </a:lnR>
                    <a:lnT w="6350" cap="flat" cmpd="sng" algn="ctr">
                      <a:solidFill>
                        <a:srgbClr val="E5E4E4"/>
                      </a:solidFill>
                      <a:prstDash val="solid"/>
                      <a:round/>
                      <a:headEnd type="none" w="med" len="med"/>
                      <a:tailEnd type="none" w="med" len="med"/>
                    </a:lnT>
                    <a:lnB w="6350" cap="flat" cmpd="sng" algn="ctr">
                      <a:solidFill>
                        <a:srgbClr val="E5E4E4"/>
                      </a:solidFill>
                      <a:prstDash val="solid"/>
                      <a:round/>
                      <a:headEnd type="none" w="med" len="med"/>
                      <a:tailEnd type="none" w="med" len="med"/>
                    </a:lnB>
                    <a:solidFill>
                      <a:srgbClr val="FFFFFF"/>
                    </a:solidFill>
                  </a:tcPr>
                </a:tc>
                <a:tc>
                  <a:txBody>
                    <a:bodyPr/>
                    <a:lstStyle/>
                    <a:p>
                      <a:pPr marL="0" indent="0">
                        <a:buNone/>
                      </a:pPr>
                      <a:r>
                        <a:rPr lang="en-US" sz="1150" i="1" dirty="0">
                          <a:solidFill>
                            <a:srgbClr val="1F2937"/>
                          </a:solidFill>
                          <a:latin typeface="Calibri" pitchFamily="34" charset="0"/>
                          <a:ea typeface="Calibri" pitchFamily="34" charset="-122"/>
                          <a:cs typeface="Calibri" pitchFamily="34" charset="-120"/>
                        </a:rPr>
                        <a:t>Boolean flag</a:t>
                      </a:r>
                      <a:endParaRPr lang="en-US" sz="1150" dirty="0">
                        <a:latin typeface="Calibri" charset="0"/>
                        <a:ea typeface="Calibri" charset="0"/>
                        <a:cs typeface="Calibri" charset="0"/>
                      </a:endParaRPr>
                    </a:p>
                  </a:txBody>
                  <a:tcPr anchor="ctr">
                    <a:lnL w="6350" cap="flat" cmpd="sng" algn="ctr">
                      <a:solidFill>
                        <a:srgbClr val="E5E4E4"/>
                      </a:solidFill>
                      <a:prstDash val="solid"/>
                      <a:round/>
                      <a:headEnd type="none" w="med" len="med"/>
                      <a:tailEnd type="none" w="med" len="med"/>
                    </a:lnL>
                    <a:lnR w="6350" cap="flat" cmpd="sng" algn="ctr">
                      <a:solidFill>
                        <a:srgbClr val="E5E4E4"/>
                      </a:solidFill>
                      <a:prstDash val="solid"/>
                      <a:round/>
                      <a:headEnd type="none" w="med" len="med"/>
                      <a:tailEnd type="none" w="med" len="med"/>
                    </a:lnR>
                    <a:lnT w="6350" cap="flat" cmpd="sng" algn="ctr">
                      <a:solidFill>
                        <a:srgbClr val="E5E4E4"/>
                      </a:solidFill>
                      <a:prstDash val="solid"/>
                      <a:round/>
                      <a:headEnd type="none" w="med" len="med"/>
                      <a:tailEnd type="none" w="med" len="med"/>
                    </a:lnT>
                    <a:lnB w="6350" cap="flat" cmpd="sng" algn="ctr">
                      <a:solidFill>
                        <a:srgbClr val="E5E4E4"/>
                      </a:solidFill>
                      <a:prstDash val="solid"/>
                      <a:round/>
                      <a:headEnd type="none" w="med" len="med"/>
                      <a:tailEnd type="none" w="med" len="med"/>
                    </a:lnB>
                    <a:solidFill>
                      <a:srgbClr val="FFFFFF"/>
                    </a:solidFill>
                  </a:tcPr>
                </a:tc>
                <a:tc>
                  <a:txBody>
                    <a:bodyPr/>
                    <a:lstStyle/>
                    <a:p>
                      <a:pPr marL="0" indent="0">
                        <a:buNone/>
                      </a:pPr>
                      <a:r>
                        <a:rPr lang="en-US" sz="1150" dirty="0">
                          <a:solidFill>
                            <a:srgbClr val="1F2937"/>
                          </a:solidFill>
                          <a:latin typeface="Calibri" pitchFamily="34" charset="0"/>
                          <a:ea typeface="Calibri" pitchFamily="34" charset="-122"/>
                          <a:cs typeface="Calibri" pitchFamily="34" charset="-120"/>
                        </a:rPr>
                        <a:t>Was the house ever renovated</a:t>
                      </a:r>
                      <a:endParaRPr lang="en-US" sz="1150" dirty="0">
                        <a:latin typeface="Calibri" charset="0"/>
                        <a:ea typeface="Calibri" charset="0"/>
                        <a:cs typeface="Calibri" charset="0"/>
                      </a:endParaRPr>
                    </a:p>
                  </a:txBody>
                  <a:tcPr anchor="ctr">
                    <a:lnL w="6350" cap="flat" cmpd="sng" algn="ctr">
                      <a:solidFill>
                        <a:srgbClr val="E5E4E4"/>
                      </a:solidFill>
                      <a:prstDash val="solid"/>
                      <a:round/>
                      <a:headEnd type="none" w="med" len="med"/>
                      <a:tailEnd type="none" w="med" len="med"/>
                    </a:lnL>
                    <a:lnR w="6350" cap="flat" cmpd="sng" algn="ctr">
                      <a:solidFill>
                        <a:srgbClr val="E5E4E4"/>
                      </a:solidFill>
                      <a:prstDash val="solid"/>
                      <a:round/>
                      <a:headEnd type="none" w="med" len="med"/>
                      <a:tailEnd type="none" w="med" len="med"/>
                    </a:lnR>
                    <a:lnT w="6350" cap="flat" cmpd="sng" algn="ctr">
                      <a:solidFill>
                        <a:srgbClr val="E5E4E4"/>
                      </a:solidFill>
                      <a:prstDash val="solid"/>
                      <a:round/>
                      <a:headEnd type="none" w="med" len="med"/>
                      <a:tailEnd type="none" w="med" len="med"/>
                    </a:lnT>
                    <a:lnB w="6350" cap="flat" cmpd="sng" algn="ctr">
                      <a:solidFill>
                        <a:srgbClr val="E5E4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85800">
                <a:tc>
                  <a:txBody>
                    <a:bodyPr/>
                    <a:lstStyle/>
                    <a:p>
                      <a:pPr marL="0" indent="0">
                        <a:buNone/>
                      </a:pPr>
                      <a:r>
                        <a:rPr lang="en-US" sz="1150" b="1" dirty="0">
                          <a:solidFill>
                            <a:srgbClr val="0D1C78"/>
                          </a:solidFill>
                          <a:latin typeface="Calibri" pitchFamily="34" charset="0"/>
                          <a:ea typeface="Calibri" pitchFamily="34" charset="-122"/>
                          <a:cs typeface="Calibri" pitchFamily="34" charset="-120"/>
                        </a:rPr>
                        <a:t>HasPool / HasGarage / HasFireplace</a:t>
                      </a:r>
                      <a:endParaRPr lang="en-US" sz="1150" dirty="0">
                        <a:latin typeface="Calibri" charset="0"/>
                        <a:ea typeface="Calibri" charset="0"/>
                        <a:cs typeface="Calibri" charset="0"/>
                      </a:endParaRPr>
                    </a:p>
                  </a:txBody>
                  <a:tcPr anchor="ctr">
                    <a:lnL w="6350" cap="flat" cmpd="sng" algn="ctr">
                      <a:solidFill>
                        <a:srgbClr val="E5E4E4"/>
                      </a:solidFill>
                      <a:prstDash val="solid"/>
                      <a:round/>
                      <a:headEnd type="none" w="med" len="med"/>
                      <a:tailEnd type="none" w="med" len="med"/>
                    </a:lnL>
                    <a:lnR w="6350" cap="flat" cmpd="sng" algn="ctr">
                      <a:solidFill>
                        <a:srgbClr val="E5E4E4"/>
                      </a:solidFill>
                      <a:prstDash val="solid"/>
                      <a:round/>
                      <a:headEnd type="none" w="med" len="med"/>
                      <a:tailEnd type="none" w="med" len="med"/>
                    </a:lnR>
                    <a:lnT w="6350" cap="flat" cmpd="sng" algn="ctr">
                      <a:solidFill>
                        <a:srgbClr val="E5E4E4"/>
                      </a:solidFill>
                      <a:prstDash val="solid"/>
                      <a:round/>
                      <a:headEnd type="none" w="med" len="med"/>
                      <a:tailEnd type="none" w="med" len="med"/>
                    </a:lnT>
                    <a:lnB w="6350" cap="flat" cmpd="sng" algn="ctr">
                      <a:solidFill>
                        <a:srgbClr val="E5E4E4"/>
                      </a:solidFill>
                      <a:prstDash val="solid"/>
                      <a:round/>
                      <a:headEnd type="none" w="med" len="med"/>
                      <a:tailEnd type="none" w="med" len="med"/>
                    </a:lnB>
                    <a:solidFill>
                      <a:srgbClr val="F5F4F4"/>
                    </a:solidFill>
                  </a:tcPr>
                </a:tc>
                <a:tc>
                  <a:txBody>
                    <a:bodyPr/>
                    <a:lstStyle/>
                    <a:p>
                      <a:pPr marL="0" indent="0">
                        <a:buNone/>
                      </a:pPr>
                      <a:r>
                        <a:rPr lang="en-US" sz="1150" i="1" dirty="0">
                          <a:solidFill>
                            <a:srgbClr val="1F2937"/>
                          </a:solidFill>
                          <a:latin typeface="Calibri" pitchFamily="34" charset="0"/>
                          <a:ea typeface="Calibri" pitchFamily="34" charset="-122"/>
                          <a:cs typeface="Calibri" pitchFamily="34" charset="-120"/>
                        </a:rPr>
                        <a:t>Boolean flags</a:t>
                      </a:r>
                      <a:endParaRPr lang="en-US" sz="1150" dirty="0">
                        <a:latin typeface="Calibri" charset="0"/>
                        <a:ea typeface="Calibri" charset="0"/>
                        <a:cs typeface="Calibri" charset="0"/>
                      </a:endParaRPr>
                    </a:p>
                  </a:txBody>
                  <a:tcPr anchor="ctr">
                    <a:lnL w="6350" cap="flat" cmpd="sng" algn="ctr">
                      <a:solidFill>
                        <a:srgbClr val="E5E4E4"/>
                      </a:solidFill>
                      <a:prstDash val="solid"/>
                      <a:round/>
                      <a:headEnd type="none" w="med" len="med"/>
                      <a:tailEnd type="none" w="med" len="med"/>
                    </a:lnL>
                    <a:lnR w="6350" cap="flat" cmpd="sng" algn="ctr">
                      <a:solidFill>
                        <a:srgbClr val="E5E4E4"/>
                      </a:solidFill>
                      <a:prstDash val="solid"/>
                      <a:round/>
                      <a:headEnd type="none" w="med" len="med"/>
                      <a:tailEnd type="none" w="med" len="med"/>
                    </a:lnR>
                    <a:lnT w="6350" cap="flat" cmpd="sng" algn="ctr">
                      <a:solidFill>
                        <a:srgbClr val="E5E4E4"/>
                      </a:solidFill>
                      <a:prstDash val="solid"/>
                      <a:round/>
                      <a:headEnd type="none" w="med" len="med"/>
                      <a:tailEnd type="none" w="med" len="med"/>
                    </a:lnT>
                    <a:lnB w="6350" cap="flat" cmpd="sng" algn="ctr">
                      <a:solidFill>
                        <a:srgbClr val="E5E4E4"/>
                      </a:solidFill>
                      <a:prstDash val="solid"/>
                      <a:round/>
                      <a:headEnd type="none" w="med" len="med"/>
                      <a:tailEnd type="none" w="med" len="med"/>
                    </a:lnB>
                    <a:solidFill>
                      <a:srgbClr val="F5F4F4"/>
                    </a:solidFill>
                  </a:tcPr>
                </a:tc>
                <a:tc>
                  <a:txBody>
                    <a:bodyPr/>
                    <a:lstStyle/>
                    <a:p>
                      <a:pPr marL="0" indent="0">
                        <a:buNone/>
                      </a:pPr>
                      <a:r>
                        <a:rPr lang="en-US" sz="1150" dirty="0">
                          <a:solidFill>
                            <a:srgbClr val="1F2937"/>
                          </a:solidFill>
                          <a:latin typeface="Calibri" pitchFamily="34" charset="0"/>
                          <a:ea typeface="Calibri" pitchFamily="34" charset="-122"/>
                          <a:cs typeface="Calibri" pitchFamily="34" charset="-120"/>
                        </a:rPr>
                        <a:t>Simplified amenity indicators</a:t>
                      </a:r>
                      <a:endParaRPr lang="en-US" sz="1150" dirty="0">
                        <a:latin typeface="Calibri" charset="0"/>
                        <a:ea typeface="Calibri" charset="0"/>
                        <a:cs typeface="Calibri" charset="0"/>
                      </a:endParaRPr>
                    </a:p>
                  </a:txBody>
                  <a:tcPr anchor="ctr">
                    <a:lnL w="6350" cap="flat" cmpd="sng" algn="ctr">
                      <a:solidFill>
                        <a:srgbClr val="E5E4E4"/>
                      </a:solidFill>
                      <a:prstDash val="solid"/>
                      <a:round/>
                      <a:headEnd type="none" w="med" len="med"/>
                      <a:tailEnd type="none" w="med" len="med"/>
                    </a:lnL>
                    <a:lnR w="6350" cap="flat" cmpd="sng" algn="ctr">
                      <a:solidFill>
                        <a:srgbClr val="E5E4E4"/>
                      </a:solidFill>
                      <a:prstDash val="solid"/>
                      <a:round/>
                      <a:headEnd type="none" w="med" len="med"/>
                      <a:tailEnd type="none" w="med" len="med"/>
                    </a:lnR>
                    <a:lnT w="6350" cap="flat" cmpd="sng" algn="ctr">
                      <a:solidFill>
                        <a:srgbClr val="E5E4E4"/>
                      </a:solidFill>
                      <a:prstDash val="solid"/>
                      <a:round/>
                      <a:headEnd type="none" w="med" len="med"/>
                      <a:tailEnd type="none" w="med" len="med"/>
                    </a:lnT>
                    <a:lnB w="6350" cap="flat" cmpd="sng" algn="ctr">
                      <a:solidFill>
                        <a:srgbClr val="E5E4E4"/>
                      </a:solidFill>
                      <a:prstDash val="solid"/>
                      <a:round/>
                      <a:headEnd type="none" w="med" len="med"/>
                      <a:tailEnd type="none" w="med" len="med"/>
                    </a:lnB>
                    <a:solidFill>
                      <a:srgbClr val="F5F4F4"/>
                    </a:solidFill>
                  </a:tcPr>
                </a:tc>
                <a:extLst>
                  <a:ext uri="{0D108BD9-81ED-4DB2-BD59-A6C34878D82A}">
                    <a16:rowId xmlns:a16="http://schemas.microsoft.com/office/drawing/2014/main" val="10006"/>
                  </a:ext>
                </a:extLst>
              </a:tr>
            </a:tbl>
          </a:graphicData>
        </a:graphic>
      </p:graphicFrame>
      <p:sp>
        <p:nvSpPr>
          <p:cNvPr id="6" name="Text 3"/>
          <p:cNvSpPr/>
          <p:nvPr/>
        </p:nvSpPr>
        <p:spPr>
          <a:xfrm>
            <a:off x="457200" y="6547104"/>
            <a:ext cx="5486400"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SmartHome Pricing Analytics</a:t>
            </a:r>
            <a:endParaRPr lang="en-US" sz="900" dirty="0"/>
          </a:p>
        </p:txBody>
      </p:sp>
      <p:sp>
        <p:nvSpPr>
          <p:cNvPr id="5" name="Text 4"/>
          <p:cNvSpPr/>
          <p:nvPr/>
        </p:nvSpPr>
        <p:spPr>
          <a:xfrm>
            <a:off x="11277295" y="6547104"/>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EDED"/>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34440"/>
          </a:xfrm>
          <a:prstGeom prst="rect">
            <a:avLst/>
          </a:prstGeom>
          <a:solidFill>
            <a:srgbClr val="0D1C78"/>
          </a:solidFill>
          <a:ln/>
        </p:spPr>
      </p:sp>
      <p:sp>
        <p:nvSpPr>
          <p:cNvPr id="3" name="Text 1"/>
          <p:cNvSpPr/>
          <p:nvPr/>
        </p:nvSpPr>
        <p:spPr>
          <a:xfrm>
            <a:off x="548640" y="201168"/>
            <a:ext cx="10515600" cy="566928"/>
          </a:xfrm>
          <a:prstGeom prst="rect">
            <a:avLst/>
          </a:prstGeom>
          <a:noFill/>
          <a:ln/>
        </p:spPr>
        <p:txBody>
          <a:bodyPr wrap="square" lIns="0" tIns="0" rIns="0" bIns="0" rtlCol="0" anchor="ctr"/>
          <a:lstStyle/>
          <a:p>
            <a:pPr marL="0" indent="0" algn="l">
              <a:buNone/>
            </a:pPr>
            <a:r>
              <a:rPr lang="en-US" sz="3000" b="1" dirty="0">
                <a:solidFill>
                  <a:srgbClr val="D4AF6A"/>
                </a:solidFill>
                <a:latin typeface="Cambria" pitchFamily="34" charset="0"/>
                <a:ea typeface="Cambria" pitchFamily="34" charset="-122"/>
                <a:cs typeface="Cambria" pitchFamily="34" charset="-120"/>
              </a:rPr>
              <a:t>Exploratory Data Analysis</a:t>
            </a:r>
            <a:endParaRPr lang="en-US" sz="3000" dirty="0"/>
          </a:p>
        </p:txBody>
      </p:sp>
      <p:sp>
        <p:nvSpPr>
          <p:cNvPr id="4" name="Text 2"/>
          <p:cNvSpPr/>
          <p:nvPr/>
        </p:nvSpPr>
        <p:spPr>
          <a:xfrm>
            <a:off x="548640" y="749808"/>
            <a:ext cx="10789920" cy="365760"/>
          </a:xfrm>
          <a:prstGeom prst="rect">
            <a:avLst/>
          </a:prstGeom>
          <a:noFill/>
          <a:ln/>
        </p:spPr>
        <p:txBody>
          <a:bodyPr wrap="square" lIns="0" tIns="0" rIns="0" bIns="0" rtlCol="0" anchor="ctr"/>
          <a:lstStyle/>
          <a:p>
            <a:pPr marL="0" indent="0" algn="l">
              <a:buNone/>
            </a:pPr>
            <a:r>
              <a:rPr lang="en-US" sz="1300" i="1" dirty="0">
                <a:solidFill>
                  <a:srgbClr val="FFFFFF"/>
                </a:solidFill>
                <a:latin typeface="Calibri" pitchFamily="34" charset="0"/>
                <a:ea typeface="Calibri" pitchFamily="34" charset="-122"/>
                <a:cs typeface="Calibri" pitchFamily="34" charset="-120"/>
              </a:rPr>
              <a:t>Where you buy matters as much as what you buy</a:t>
            </a:r>
            <a:endParaRPr lang="en-US" sz="1300" dirty="0"/>
          </a:p>
        </p:txBody>
      </p:sp>
      <p:pic>
        <p:nvPicPr>
          <p:cNvPr id="5" name="Image 0" descr="chart_neighborhood_gap.png"/>
          <p:cNvPicPr>
            <a:picLocks noChangeAspect="1"/>
          </p:cNvPicPr>
          <p:nvPr/>
        </p:nvPicPr>
        <p:blipFill>
          <a:blip r:embed="rId3"/>
          <a:srcRect/>
          <a:stretch/>
        </p:blipFill>
        <p:spPr>
          <a:xfrm>
            <a:off x="548640" y="1600200"/>
            <a:ext cx="6400800" cy="4480560"/>
          </a:xfrm>
          <a:prstGeom prst="rect">
            <a:avLst/>
          </a:prstGeom>
        </p:spPr>
      </p:pic>
      <p:sp>
        <p:nvSpPr>
          <p:cNvPr id="6" name="Text 3"/>
          <p:cNvSpPr/>
          <p:nvPr/>
        </p:nvSpPr>
        <p:spPr>
          <a:xfrm>
            <a:off x="7269480" y="1920240"/>
            <a:ext cx="4389120" cy="3931920"/>
          </a:xfrm>
          <a:prstGeom prst="rect">
            <a:avLst/>
          </a:prstGeom>
          <a:noFill/>
          <a:ln/>
        </p:spPr>
        <p:txBody>
          <a:bodyPr wrap="square" rtlCol="0" anchor="t"/>
          <a:lstStyle/>
          <a:p>
            <a:pPr marL="0" indent="0">
              <a:lnSpc>
                <a:spcPct val="130000"/>
              </a:lnSpc>
              <a:buNone/>
            </a:pPr>
            <a:r>
              <a:rPr lang="en-US" sz="1800" b="1" dirty="0">
                <a:solidFill>
                  <a:srgbClr val="0D1C78"/>
                </a:solidFill>
                <a:latin typeface="Calibri" pitchFamily="34" charset="0"/>
                <a:ea typeface="Calibri" pitchFamily="34" charset="-122"/>
                <a:cs typeface="Calibri" pitchFamily="34" charset="-120"/>
              </a:rPr>
              <a:t>A 3.4x price gap
</a:t>
            </a:r>
            <a:endParaRPr lang="en-US" sz="1800" dirty="0"/>
          </a:p>
          <a:p>
            <a:pPr marL="0" indent="0">
              <a:lnSpc>
                <a:spcPct val="130000"/>
              </a:lnSpc>
              <a:buNone/>
            </a:pPr>
            <a:r>
              <a:rPr lang="en-US" sz="1300" dirty="0">
                <a:solidFill>
                  <a:srgbClr val="1F2937"/>
                </a:solidFill>
                <a:latin typeface="Calibri" pitchFamily="34" charset="0"/>
                <a:ea typeface="Calibri" pitchFamily="34" charset="-122"/>
                <a:cs typeface="Calibri" pitchFamily="34" charset="-120"/>
              </a:rPr>
              <a:t>Average sale price ranges from just $98,576 in MeadowV up to $335,295 in NoRidge — more variation than almost any single physical feature produces.
</a:t>
            </a:r>
            <a:endParaRPr lang="en-US" sz="1800" dirty="0"/>
          </a:p>
          <a:p>
            <a:pPr marL="0" indent="0">
              <a:lnSpc>
                <a:spcPct val="130000"/>
              </a:lnSpc>
              <a:buNone/>
            </a:pPr>
            <a:r>
              <a:rPr lang="en-US" sz="1500" b="1" dirty="0">
                <a:solidFill>
                  <a:srgbClr val="B48C36"/>
                </a:solidFill>
                <a:latin typeface="Calibri" pitchFamily="34" charset="0"/>
                <a:ea typeface="Calibri" pitchFamily="34" charset="-122"/>
                <a:cs typeface="Calibri" pitchFamily="34" charset="-120"/>
              </a:rPr>
              <a:t>Takeaway
</a:t>
            </a:r>
            <a:endParaRPr lang="en-US" sz="1800" dirty="0"/>
          </a:p>
          <a:p>
            <a:pPr marL="0" indent="0">
              <a:lnSpc>
                <a:spcPct val="130000"/>
              </a:lnSpc>
              <a:buNone/>
            </a:pPr>
            <a:r>
              <a:rPr lang="en-US" sz="1300" i="1" dirty="0">
                <a:solidFill>
                  <a:srgbClr val="1F2937"/>
                </a:solidFill>
                <a:latin typeface="Calibri" pitchFamily="34" charset="0"/>
                <a:ea typeface="Calibri" pitchFamily="34" charset="-122"/>
                <a:cs typeface="Calibri" pitchFamily="34" charset="-120"/>
              </a:rPr>
              <a:t>Location should be treated as a segmentation variable in any pricing strategy — not just another feature.</a:t>
            </a:r>
            <a:endParaRPr lang="en-US" sz="1800" dirty="0"/>
          </a:p>
        </p:txBody>
      </p:sp>
      <p:sp>
        <p:nvSpPr>
          <p:cNvPr id="7" name="Text 4"/>
          <p:cNvSpPr/>
          <p:nvPr/>
        </p:nvSpPr>
        <p:spPr>
          <a:xfrm>
            <a:off x="457200" y="6547104"/>
            <a:ext cx="5486400"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SmartHome Pricing Analytics</a:t>
            </a:r>
            <a:endParaRPr lang="en-US" sz="900" dirty="0"/>
          </a:p>
        </p:txBody>
      </p:sp>
      <p:sp>
        <p:nvSpPr>
          <p:cNvPr id="8" name="Text 5"/>
          <p:cNvSpPr/>
          <p:nvPr/>
        </p:nvSpPr>
        <p:spPr>
          <a:xfrm>
            <a:off x="11277295" y="6547104"/>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EDED"/>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34440"/>
          </a:xfrm>
          <a:prstGeom prst="rect">
            <a:avLst/>
          </a:prstGeom>
          <a:solidFill>
            <a:srgbClr val="0D1C78"/>
          </a:solidFill>
          <a:ln/>
        </p:spPr>
      </p:sp>
      <p:sp>
        <p:nvSpPr>
          <p:cNvPr id="3" name="Text 1"/>
          <p:cNvSpPr/>
          <p:nvPr/>
        </p:nvSpPr>
        <p:spPr>
          <a:xfrm>
            <a:off x="548640" y="201168"/>
            <a:ext cx="10515600" cy="566928"/>
          </a:xfrm>
          <a:prstGeom prst="rect">
            <a:avLst/>
          </a:prstGeom>
          <a:noFill/>
          <a:ln/>
        </p:spPr>
        <p:txBody>
          <a:bodyPr wrap="square" lIns="0" tIns="0" rIns="0" bIns="0" rtlCol="0" anchor="ctr"/>
          <a:lstStyle/>
          <a:p>
            <a:pPr marL="0" indent="0" algn="l">
              <a:buNone/>
            </a:pPr>
            <a:r>
              <a:rPr lang="en-US" sz="3000" b="1" dirty="0">
                <a:solidFill>
                  <a:srgbClr val="D4AF6A"/>
                </a:solidFill>
                <a:latin typeface="Cambria" pitchFamily="34" charset="0"/>
                <a:ea typeface="Cambria" pitchFamily="34" charset="-122"/>
                <a:cs typeface="Cambria" pitchFamily="34" charset="-120"/>
              </a:rPr>
              <a:t>Predictive Modeling</a:t>
            </a:r>
            <a:endParaRPr lang="en-US" sz="3000" dirty="0"/>
          </a:p>
        </p:txBody>
      </p:sp>
      <p:sp>
        <p:nvSpPr>
          <p:cNvPr id="4" name="Text 2"/>
          <p:cNvSpPr/>
          <p:nvPr/>
        </p:nvSpPr>
        <p:spPr>
          <a:xfrm>
            <a:off x="548640" y="749808"/>
            <a:ext cx="10789920" cy="365760"/>
          </a:xfrm>
          <a:prstGeom prst="rect">
            <a:avLst/>
          </a:prstGeom>
          <a:noFill/>
          <a:ln/>
        </p:spPr>
        <p:txBody>
          <a:bodyPr wrap="square" lIns="0" tIns="0" rIns="0" bIns="0" rtlCol="0" anchor="ctr"/>
          <a:lstStyle/>
          <a:p>
            <a:pPr marL="0" indent="0" algn="l">
              <a:buNone/>
            </a:pPr>
            <a:r>
              <a:rPr lang="en-US" sz="1300" i="1" dirty="0">
                <a:solidFill>
                  <a:srgbClr val="FFFFFF"/>
                </a:solidFill>
                <a:latin typeface="Calibri" pitchFamily="34" charset="0"/>
                <a:ea typeface="Calibri" pitchFamily="34" charset="-122"/>
                <a:cs typeface="Calibri" pitchFamily="34" charset="-120"/>
              </a:rPr>
              <a:t>Five models, two complementary framings of the same problem</a:t>
            </a:r>
            <a:endParaRPr lang="en-US" sz="1300" dirty="0"/>
          </a:p>
        </p:txBody>
      </p:sp>
      <p:sp>
        <p:nvSpPr>
          <p:cNvPr id="5" name="Shape 3"/>
          <p:cNvSpPr/>
          <p:nvPr/>
        </p:nvSpPr>
        <p:spPr>
          <a:xfrm>
            <a:off x="548640" y="1600200"/>
            <a:ext cx="5349240" cy="4480560"/>
          </a:xfrm>
          <a:prstGeom prst="roundRect">
            <a:avLst>
              <a:gd name="adj" fmla="val 1633"/>
            </a:avLst>
          </a:prstGeom>
          <a:solidFill>
            <a:srgbClr val="0D1C78"/>
          </a:solidFill>
          <a:ln/>
        </p:spPr>
      </p:sp>
      <p:sp>
        <p:nvSpPr>
          <p:cNvPr id="6" name="Shape 4"/>
          <p:cNvSpPr/>
          <p:nvPr/>
        </p:nvSpPr>
        <p:spPr>
          <a:xfrm>
            <a:off x="868680" y="1874520"/>
            <a:ext cx="548640" cy="548640"/>
          </a:xfrm>
          <a:prstGeom prst="ellipse">
            <a:avLst/>
          </a:prstGeom>
          <a:solidFill>
            <a:srgbClr val="B48C36"/>
          </a:solidFill>
          <a:ln/>
        </p:spPr>
      </p:sp>
      <p:pic>
        <p:nvPicPr>
          <p:cNvPr id="7" name="Image 0" descr="icon_check_navy.png"/>
          <p:cNvPicPr>
            <a:picLocks noChangeAspect="1"/>
          </p:cNvPicPr>
          <p:nvPr/>
        </p:nvPicPr>
        <p:blipFill>
          <a:blip r:embed="rId3"/>
          <a:stretch>
            <a:fillRect/>
          </a:stretch>
        </p:blipFill>
        <p:spPr>
          <a:xfrm>
            <a:off x="987552" y="1993392"/>
            <a:ext cx="310896" cy="310896"/>
          </a:xfrm>
          <a:prstGeom prst="rect">
            <a:avLst/>
          </a:prstGeom>
        </p:spPr>
      </p:pic>
      <p:sp>
        <p:nvSpPr>
          <p:cNvPr id="8" name="Text 5"/>
          <p:cNvSpPr/>
          <p:nvPr/>
        </p:nvSpPr>
        <p:spPr>
          <a:xfrm>
            <a:off x="1554480" y="1920240"/>
            <a:ext cx="4114800" cy="457200"/>
          </a:xfrm>
          <a:prstGeom prst="rect">
            <a:avLst/>
          </a:prstGeom>
          <a:noFill/>
          <a:ln/>
        </p:spPr>
        <p:txBody>
          <a:bodyPr wrap="square" lIns="0" tIns="0" rIns="0" bIns="0" rtlCol="0" anchor="ctr"/>
          <a:lstStyle/>
          <a:p>
            <a:pPr marL="0" indent="0">
              <a:buNone/>
            </a:pPr>
            <a:r>
              <a:rPr lang="en-US" sz="1800" b="1" dirty="0">
                <a:solidFill>
                  <a:srgbClr val="D4AF6A"/>
                </a:solidFill>
                <a:latin typeface="Cambria" pitchFamily="34" charset="0"/>
                <a:ea typeface="Cambria" pitchFamily="34" charset="-122"/>
                <a:cs typeface="Cambria" pitchFamily="34" charset="-120"/>
              </a:rPr>
              <a:t>Classification</a:t>
            </a:r>
            <a:endParaRPr lang="en-US" sz="1800" dirty="0"/>
          </a:p>
        </p:txBody>
      </p:sp>
      <p:sp>
        <p:nvSpPr>
          <p:cNvPr id="9" name="Text 6"/>
          <p:cNvSpPr/>
          <p:nvPr/>
        </p:nvSpPr>
        <p:spPr>
          <a:xfrm>
            <a:off x="868680" y="2560320"/>
            <a:ext cx="4754880" cy="457200"/>
          </a:xfrm>
          <a:prstGeom prst="rect">
            <a:avLst/>
          </a:prstGeom>
          <a:noFill/>
          <a:ln/>
        </p:spPr>
        <p:txBody>
          <a:bodyPr wrap="square" lIns="0" tIns="0" rIns="0" bIns="0"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Is a house priced above or below the market median?</a:t>
            </a:r>
            <a:endParaRPr lang="en-US" sz="1200" dirty="0"/>
          </a:p>
        </p:txBody>
      </p:sp>
      <p:sp>
        <p:nvSpPr>
          <p:cNvPr id="10" name="Text 7"/>
          <p:cNvSpPr/>
          <p:nvPr/>
        </p:nvSpPr>
        <p:spPr>
          <a:xfrm>
            <a:off x="914400" y="3154680"/>
            <a:ext cx="4572000" cy="38404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Logistic Regression</a:t>
            </a:r>
            <a:endParaRPr lang="en-US" sz="1300" dirty="0"/>
          </a:p>
        </p:txBody>
      </p:sp>
      <p:sp>
        <p:nvSpPr>
          <p:cNvPr id="11" name="Text 8"/>
          <p:cNvSpPr/>
          <p:nvPr/>
        </p:nvSpPr>
        <p:spPr>
          <a:xfrm>
            <a:off x="914400" y="3611880"/>
            <a:ext cx="4572000" cy="38404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Decision Tree</a:t>
            </a:r>
            <a:endParaRPr lang="en-US" sz="1300" dirty="0"/>
          </a:p>
        </p:txBody>
      </p:sp>
      <p:sp>
        <p:nvSpPr>
          <p:cNvPr id="12" name="Text 9"/>
          <p:cNvSpPr/>
          <p:nvPr/>
        </p:nvSpPr>
        <p:spPr>
          <a:xfrm>
            <a:off x="914400" y="4069080"/>
            <a:ext cx="4572000" cy="38404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Random Forest</a:t>
            </a:r>
            <a:endParaRPr lang="en-US" sz="1300" dirty="0"/>
          </a:p>
        </p:txBody>
      </p:sp>
      <p:sp>
        <p:nvSpPr>
          <p:cNvPr id="13" name="Text 10"/>
          <p:cNvSpPr/>
          <p:nvPr/>
        </p:nvSpPr>
        <p:spPr>
          <a:xfrm>
            <a:off x="914400" y="4526280"/>
            <a:ext cx="4572000" cy="38404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Support Vector Machine (SVM)</a:t>
            </a:r>
            <a:endParaRPr lang="en-US" sz="1300" dirty="0"/>
          </a:p>
        </p:txBody>
      </p:sp>
      <p:sp>
        <p:nvSpPr>
          <p:cNvPr id="14" name="Text 11"/>
          <p:cNvSpPr/>
          <p:nvPr/>
        </p:nvSpPr>
        <p:spPr>
          <a:xfrm>
            <a:off x="868680" y="5257800"/>
            <a:ext cx="4754880" cy="548640"/>
          </a:xfrm>
          <a:prstGeom prst="rect">
            <a:avLst/>
          </a:prstGeom>
          <a:noFill/>
          <a:ln/>
        </p:spPr>
        <p:txBody>
          <a:bodyPr wrap="square" lIns="0" tIns="0" rIns="0" bIns="0" rtlCol="0" anchor="ctr"/>
          <a:lstStyle/>
          <a:p>
            <a:pPr marL="0" indent="0">
              <a:buNone/>
            </a:pPr>
            <a:r>
              <a:rPr lang="en-US" sz="1150" i="1" dirty="0">
                <a:solidFill>
                  <a:srgbClr val="C7CEEB"/>
                </a:solidFill>
                <a:latin typeface="Calibri" pitchFamily="34" charset="0"/>
                <a:ea typeface="Calibri" pitchFamily="34" charset="-122"/>
                <a:cs typeface="Calibri" pitchFamily="34" charset="-120"/>
              </a:rPr>
              <a:t>Evaluated using Accuracy and a Confusion Matrix</a:t>
            </a:r>
            <a:endParaRPr lang="en-US" sz="1150" dirty="0"/>
          </a:p>
        </p:txBody>
      </p:sp>
      <p:sp>
        <p:nvSpPr>
          <p:cNvPr id="15" name="Shape 12"/>
          <p:cNvSpPr/>
          <p:nvPr/>
        </p:nvSpPr>
        <p:spPr>
          <a:xfrm>
            <a:off x="6263640" y="1600200"/>
            <a:ext cx="5349240" cy="4480560"/>
          </a:xfrm>
          <a:prstGeom prst="roundRect">
            <a:avLst>
              <a:gd name="adj" fmla="val 1633"/>
            </a:avLst>
          </a:prstGeom>
          <a:solidFill>
            <a:srgbClr val="B48C36"/>
          </a:solidFill>
          <a:ln/>
        </p:spPr>
      </p:sp>
      <p:sp>
        <p:nvSpPr>
          <p:cNvPr id="16" name="Shape 13"/>
          <p:cNvSpPr/>
          <p:nvPr/>
        </p:nvSpPr>
        <p:spPr>
          <a:xfrm>
            <a:off x="6583680" y="1874520"/>
            <a:ext cx="548640" cy="548640"/>
          </a:xfrm>
          <a:prstGeom prst="ellipse">
            <a:avLst/>
          </a:prstGeom>
          <a:solidFill>
            <a:srgbClr val="0D1C78"/>
          </a:solidFill>
          <a:ln/>
        </p:spPr>
      </p:sp>
      <p:pic>
        <p:nvPicPr>
          <p:cNvPr id="17" name="Image 1" descr="icon_trending_gold.png"/>
          <p:cNvPicPr>
            <a:picLocks noChangeAspect="1"/>
          </p:cNvPicPr>
          <p:nvPr/>
        </p:nvPicPr>
        <p:blipFill>
          <a:blip r:embed="rId4"/>
          <a:stretch>
            <a:fillRect/>
          </a:stretch>
        </p:blipFill>
        <p:spPr>
          <a:xfrm>
            <a:off x="6702552" y="1993392"/>
            <a:ext cx="310896" cy="310896"/>
          </a:xfrm>
          <a:prstGeom prst="rect">
            <a:avLst/>
          </a:prstGeom>
        </p:spPr>
      </p:pic>
      <p:sp>
        <p:nvSpPr>
          <p:cNvPr id="18" name="Text 14"/>
          <p:cNvSpPr/>
          <p:nvPr/>
        </p:nvSpPr>
        <p:spPr>
          <a:xfrm>
            <a:off x="7269480" y="1920240"/>
            <a:ext cx="4114800" cy="457200"/>
          </a:xfrm>
          <a:prstGeom prst="rect">
            <a:avLst/>
          </a:prstGeom>
          <a:noFill/>
          <a:ln/>
        </p:spPr>
        <p:txBody>
          <a:bodyPr wrap="square" lIns="0" tIns="0" rIns="0" bIns="0" rtlCol="0" anchor="ctr"/>
          <a:lstStyle/>
          <a:p>
            <a:pPr marL="0" indent="0">
              <a:buNone/>
            </a:pPr>
            <a:r>
              <a:rPr lang="en-US" sz="1800" b="1" dirty="0">
                <a:solidFill>
                  <a:srgbClr val="050931"/>
                </a:solidFill>
                <a:latin typeface="Cambria" pitchFamily="34" charset="0"/>
                <a:ea typeface="Cambria" pitchFamily="34" charset="-122"/>
                <a:cs typeface="Cambria" pitchFamily="34" charset="-120"/>
              </a:rPr>
              <a:t>Regression</a:t>
            </a:r>
            <a:endParaRPr lang="en-US" sz="1800" dirty="0"/>
          </a:p>
        </p:txBody>
      </p:sp>
      <p:sp>
        <p:nvSpPr>
          <p:cNvPr id="19" name="Text 15"/>
          <p:cNvSpPr/>
          <p:nvPr/>
        </p:nvSpPr>
        <p:spPr>
          <a:xfrm>
            <a:off x="6583680" y="2560320"/>
            <a:ext cx="4754880" cy="457200"/>
          </a:xfrm>
          <a:prstGeom prst="rect">
            <a:avLst/>
          </a:prstGeom>
          <a:noFill/>
          <a:ln/>
        </p:spPr>
        <p:txBody>
          <a:bodyPr wrap="square" lIns="0" tIns="0" rIns="0" bIns="0" rtlCol="0" anchor="ctr"/>
          <a:lstStyle/>
          <a:p>
            <a:pPr marL="0" indent="0">
              <a:buNone/>
            </a:pPr>
            <a:r>
              <a:rPr lang="en-US" sz="1200" i="1" dirty="0">
                <a:solidFill>
                  <a:srgbClr val="3A2A08"/>
                </a:solidFill>
                <a:latin typeface="Calibri" pitchFamily="34" charset="0"/>
                <a:ea typeface="Calibri" pitchFamily="34" charset="-122"/>
                <a:cs typeface="Calibri" pitchFamily="34" charset="-120"/>
              </a:rPr>
              <a:t>What is the house's exact predicted sale price?</a:t>
            </a:r>
            <a:endParaRPr lang="en-US" sz="1200" dirty="0"/>
          </a:p>
        </p:txBody>
      </p:sp>
      <p:sp>
        <p:nvSpPr>
          <p:cNvPr id="20" name="Text 16"/>
          <p:cNvSpPr/>
          <p:nvPr/>
        </p:nvSpPr>
        <p:spPr>
          <a:xfrm>
            <a:off x="6629400" y="3154680"/>
            <a:ext cx="4572000" cy="384048"/>
          </a:xfrm>
          <a:prstGeom prst="rect">
            <a:avLst/>
          </a:prstGeom>
          <a:noFill/>
          <a:ln/>
        </p:spPr>
        <p:txBody>
          <a:bodyPr wrap="square" lIns="0" tIns="0" rIns="0" bIns="0" rtlCol="0" anchor="ctr"/>
          <a:lstStyle/>
          <a:p>
            <a:pPr marL="0" indent="0">
              <a:buNone/>
            </a:pPr>
            <a:r>
              <a:rPr lang="en-US" sz="1300" dirty="0">
                <a:solidFill>
                  <a:srgbClr val="3A2A08"/>
                </a:solidFill>
                <a:latin typeface="Calibri" pitchFamily="34" charset="0"/>
                <a:ea typeface="Calibri" pitchFamily="34" charset="-122"/>
                <a:cs typeface="Calibri" pitchFamily="34" charset="-120"/>
              </a:rPr>
              <a:t>•  Linear Regression</a:t>
            </a:r>
            <a:endParaRPr lang="en-US" sz="1300" dirty="0"/>
          </a:p>
        </p:txBody>
      </p:sp>
      <p:sp>
        <p:nvSpPr>
          <p:cNvPr id="21" name="Text 17"/>
          <p:cNvSpPr/>
          <p:nvPr/>
        </p:nvSpPr>
        <p:spPr>
          <a:xfrm>
            <a:off x="6583680" y="5257800"/>
            <a:ext cx="4754880" cy="777240"/>
          </a:xfrm>
          <a:prstGeom prst="rect">
            <a:avLst/>
          </a:prstGeom>
          <a:noFill/>
          <a:ln/>
        </p:spPr>
        <p:txBody>
          <a:bodyPr wrap="square" lIns="0" tIns="0" rIns="0" bIns="0" rtlCol="0" anchor="t"/>
          <a:lstStyle/>
          <a:p>
            <a:pPr marL="0" indent="0">
              <a:buNone/>
            </a:pPr>
            <a:r>
              <a:rPr lang="en-US" sz="1150" i="1" dirty="0">
                <a:solidFill>
                  <a:srgbClr val="3A2A08"/>
                </a:solidFill>
                <a:latin typeface="Calibri" pitchFamily="34" charset="0"/>
                <a:ea typeface="Calibri" pitchFamily="34" charset="-122"/>
                <a:cs typeface="Calibri" pitchFamily="34" charset="-120"/>
              </a:rPr>
              <a:t>Evaluated using R² Score, RMSE, and MAE — since it predicts a continuous dollar value rather than a category</a:t>
            </a:r>
            <a:endParaRPr lang="en-US" sz="1150" dirty="0"/>
          </a:p>
        </p:txBody>
      </p:sp>
      <p:sp>
        <p:nvSpPr>
          <p:cNvPr id="22" name="Text 18"/>
          <p:cNvSpPr/>
          <p:nvPr/>
        </p:nvSpPr>
        <p:spPr>
          <a:xfrm>
            <a:off x="457200" y="6547104"/>
            <a:ext cx="5486400"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SmartHome Pricing Analytics</a:t>
            </a:r>
            <a:endParaRPr lang="en-US" sz="900" dirty="0"/>
          </a:p>
        </p:txBody>
      </p:sp>
      <p:sp>
        <p:nvSpPr>
          <p:cNvPr id="23" name="Text 19"/>
          <p:cNvSpPr/>
          <p:nvPr/>
        </p:nvSpPr>
        <p:spPr>
          <a:xfrm>
            <a:off x="11277295" y="6547104"/>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EDED"/>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34440"/>
          </a:xfrm>
          <a:prstGeom prst="rect">
            <a:avLst/>
          </a:prstGeom>
          <a:solidFill>
            <a:srgbClr val="0D1C78"/>
          </a:solidFill>
          <a:ln/>
        </p:spPr>
      </p:sp>
      <p:sp>
        <p:nvSpPr>
          <p:cNvPr id="3" name="Text 1"/>
          <p:cNvSpPr/>
          <p:nvPr/>
        </p:nvSpPr>
        <p:spPr>
          <a:xfrm>
            <a:off x="548640" y="201168"/>
            <a:ext cx="10515600" cy="566928"/>
          </a:xfrm>
          <a:prstGeom prst="rect">
            <a:avLst/>
          </a:prstGeom>
          <a:noFill/>
          <a:ln/>
        </p:spPr>
        <p:txBody>
          <a:bodyPr wrap="square" lIns="0" tIns="0" rIns="0" bIns="0" rtlCol="0" anchor="ctr"/>
          <a:lstStyle/>
          <a:p>
            <a:pPr marL="0" indent="0" algn="l">
              <a:buNone/>
            </a:pPr>
            <a:r>
              <a:rPr lang="en-US" sz="3000" b="1" dirty="0">
                <a:solidFill>
                  <a:srgbClr val="D4AF6A"/>
                </a:solidFill>
                <a:latin typeface="Cambria" pitchFamily="34" charset="0"/>
                <a:ea typeface="Cambria" pitchFamily="34" charset="-122"/>
                <a:cs typeface="Cambria" pitchFamily="34" charset="-120"/>
              </a:rPr>
              <a:t>Model Evaluation</a:t>
            </a:r>
            <a:endParaRPr lang="en-US" sz="3000" dirty="0"/>
          </a:p>
        </p:txBody>
      </p:sp>
      <p:sp>
        <p:nvSpPr>
          <p:cNvPr id="4" name="Text 2"/>
          <p:cNvSpPr/>
          <p:nvPr/>
        </p:nvSpPr>
        <p:spPr>
          <a:xfrm>
            <a:off x="548640" y="749808"/>
            <a:ext cx="10789920" cy="365760"/>
          </a:xfrm>
          <a:prstGeom prst="rect">
            <a:avLst/>
          </a:prstGeom>
          <a:noFill/>
          <a:ln/>
        </p:spPr>
        <p:txBody>
          <a:bodyPr wrap="square" lIns="0" tIns="0" rIns="0" bIns="0" rtlCol="0" anchor="ctr"/>
          <a:lstStyle/>
          <a:p>
            <a:pPr marL="0" indent="0" algn="l">
              <a:buNone/>
            </a:pPr>
            <a:r>
              <a:rPr lang="en-US" sz="1300" i="1" dirty="0">
                <a:solidFill>
                  <a:srgbClr val="FFFFFF"/>
                </a:solidFill>
                <a:latin typeface="Calibri" pitchFamily="34" charset="0"/>
                <a:ea typeface="Calibri" pitchFamily="34" charset="-122"/>
                <a:cs typeface="Calibri" pitchFamily="34" charset="-120"/>
              </a:rPr>
              <a:t>Classification accuracy and the strongest performer in detail</a:t>
            </a:r>
            <a:endParaRPr lang="en-US" sz="1300" dirty="0"/>
          </a:p>
        </p:txBody>
      </p:sp>
      <p:pic>
        <p:nvPicPr>
          <p:cNvPr id="5" name="Image 0" descr="chart_model_accuracy.png"/>
          <p:cNvPicPr>
            <a:picLocks noChangeAspect="1"/>
          </p:cNvPicPr>
          <p:nvPr/>
        </p:nvPicPr>
        <p:blipFill>
          <a:blip r:embed="rId3"/>
          <a:srcRect/>
          <a:stretch/>
        </p:blipFill>
        <p:spPr>
          <a:xfrm>
            <a:off x="457200" y="1554480"/>
            <a:ext cx="5623560" cy="3657600"/>
          </a:xfrm>
          <a:prstGeom prst="rect">
            <a:avLst/>
          </a:prstGeom>
        </p:spPr>
      </p:pic>
      <p:pic>
        <p:nvPicPr>
          <p:cNvPr id="6" name="Image 1" descr="chart_confusion_matrix.png"/>
          <p:cNvPicPr>
            <a:picLocks noChangeAspect="1"/>
          </p:cNvPicPr>
          <p:nvPr/>
        </p:nvPicPr>
        <p:blipFill>
          <a:blip r:embed="rId4"/>
          <a:srcRect/>
          <a:stretch/>
        </p:blipFill>
        <p:spPr>
          <a:xfrm>
            <a:off x="6309360" y="1554480"/>
            <a:ext cx="4937760" cy="3657600"/>
          </a:xfrm>
          <a:prstGeom prst="rect">
            <a:avLst/>
          </a:prstGeom>
        </p:spPr>
      </p:pic>
      <p:sp>
        <p:nvSpPr>
          <p:cNvPr id="7" name="Text 3"/>
          <p:cNvSpPr/>
          <p:nvPr/>
        </p:nvSpPr>
        <p:spPr>
          <a:xfrm>
            <a:off x="6309360" y="5257800"/>
            <a:ext cx="4937760" cy="365760"/>
          </a:xfrm>
          <a:prstGeom prst="rect">
            <a:avLst/>
          </a:prstGeom>
          <a:noFill/>
          <a:ln/>
        </p:spPr>
        <p:txBody>
          <a:bodyPr wrap="square" lIns="0" tIns="0" rIns="0" bIns="0" rtlCol="0" anchor="ctr"/>
          <a:lstStyle/>
          <a:p>
            <a:pPr marL="0" indent="0" algn="ctr">
              <a:buNone/>
            </a:pPr>
            <a:r>
              <a:rPr lang="en-US" sz="1300" b="1" dirty="0">
                <a:solidFill>
                  <a:srgbClr val="0D1C78"/>
                </a:solidFill>
                <a:latin typeface="Cambria" pitchFamily="34" charset="0"/>
                <a:ea typeface="Cambria" pitchFamily="34" charset="-122"/>
                <a:cs typeface="Cambria" pitchFamily="34" charset="-120"/>
              </a:rPr>
              <a:t>Logistic Regression — 91.8% accuracy</a:t>
            </a:r>
            <a:endParaRPr lang="en-US" sz="1300" dirty="0"/>
          </a:p>
        </p:txBody>
      </p:sp>
      <p:sp>
        <p:nvSpPr>
          <p:cNvPr id="8" name="Shape 4"/>
          <p:cNvSpPr/>
          <p:nvPr/>
        </p:nvSpPr>
        <p:spPr>
          <a:xfrm>
            <a:off x="457200" y="5623560"/>
            <a:ext cx="5623560" cy="777240"/>
          </a:xfrm>
          <a:prstGeom prst="roundRect">
            <a:avLst>
              <a:gd name="adj" fmla="val 7059"/>
            </a:avLst>
          </a:prstGeom>
          <a:solidFill>
            <a:srgbClr val="FFFFFF"/>
          </a:solidFill>
          <a:ln w="9525">
            <a:solidFill>
              <a:srgbClr val="DDDCDC"/>
            </a:solidFill>
            <a:prstDash val="solid"/>
          </a:ln>
        </p:spPr>
      </p:sp>
      <p:sp>
        <p:nvSpPr>
          <p:cNvPr id="9" name="Text 5"/>
          <p:cNvSpPr/>
          <p:nvPr/>
        </p:nvSpPr>
        <p:spPr>
          <a:xfrm>
            <a:off x="685800" y="5623560"/>
            <a:ext cx="5166360" cy="777240"/>
          </a:xfrm>
          <a:prstGeom prst="rect">
            <a:avLst/>
          </a:prstGeom>
          <a:noFill/>
          <a:ln/>
        </p:spPr>
        <p:txBody>
          <a:bodyPr wrap="square" lIns="0" tIns="0" rIns="0" bIns="0" rtlCol="0" anchor="ctr"/>
          <a:lstStyle/>
          <a:p>
            <a:pPr marL="0" indent="0">
              <a:buNone/>
            </a:pPr>
            <a:r>
              <a:rPr lang="en-US" sz="1100" i="1" dirty="0">
                <a:solidFill>
                  <a:srgbClr val="1F2937"/>
                </a:solidFill>
                <a:latin typeface="Calibri" pitchFamily="34" charset="0"/>
                <a:ea typeface="Calibri" pitchFamily="34" charset="-122"/>
                <a:cs typeface="Calibri" pitchFamily="34" charset="-120"/>
              </a:rPr>
              <a:t>Linear Regression: R² = 0.80, RMSE ≈ $39,000 — strong enough for decision support, not a replacement for professional appraisal.</a:t>
            </a:r>
            <a:endParaRPr lang="en-US" sz="1100" dirty="0"/>
          </a:p>
        </p:txBody>
      </p:sp>
      <p:sp>
        <p:nvSpPr>
          <p:cNvPr id="10" name="Text 6"/>
          <p:cNvSpPr/>
          <p:nvPr/>
        </p:nvSpPr>
        <p:spPr>
          <a:xfrm>
            <a:off x="457200" y="6547104"/>
            <a:ext cx="5486400"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SmartHome Pricing Analytics</a:t>
            </a:r>
            <a:endParaRPr lang="en-US" sz="900" dirty="0"/>
          </a:p>
        </p:txBody>
      </p:sp>
      <p:sp>
        <p:nvSpPr>
          <p:cNvPr id="11" name="Text 7"/>
          <p:cNvSpPr/>
          <p:nvPr/>
        </p:nvSpPr>
        <p:spPr>
          <a:xfrm>
            <a:off x="11277295" y="6547104"/>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EDED"/>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34440"/>
          </a:xfrm>
          <a:prstGeom prst="rect">
            <a:avLst/>
          </a:prstGeom>
          <a:solidFill>
            <a:srgbClr val="0D1C78"/>
          </a:solidFill>
          <a:ln/>
        </p:spPr>
      </p:sp>
      <p:sp>
        <p:nvSpPr>
          <p:cNvPr id="3" name="Text 1"/>
          <p:cNvSpPr/>
          <p:nvPr/>
        </p:nvSpPr>
        <p:spPr>
          <a:xfrm>
            <a:off x="548640" y="201168"/>
            <a:ext cx="10515600" cy="566928"/>
          </a:xfrm>
          <a:prstGeom prst="rect">
            <a:avLst/>
          </a:prstGeom>
          <a:noFill/>
          <a:ln/>
        </p:spPr>
        <p:txBody>
          <a:bodyPr wrap="square" lIns="0" tIns="0" rIns="0" bIns="0" rtlCol="0" anchor="ctr"/>
          <a:lstStyle/>
          <a:p>
            <a:pPr marL="0" indent="0" algn="l">
              <a:buNone/>
            </a:pPr>
            <a:r>
              <a:rPr lang="en-US" sz="3000" b="1" dirty="0">
                <a:solidFill>
                  <a:srgbClr val="D4AF6A"/>
                </a:solidFill>
                <a:latin typeface="Cambria" pitchFamily="34" charset="0"/>
                <a:ea typeface="Cambria" pitchFamily="34" charset="-122"/>
                <a:cs typeface="Cambria" pitchFamily="34" charset="-120"/>
              </a:rPr>
              <a:t>What Drives a House's Price?</a:t>
            </a:r>
            <a:endParaRPr lang="en-US" sz="3000" dirty="0"/>
          </a:p>
        </p:txBody>
      </p:sp>
      <p:sp>
        <p:nvSpPr>
          <p:cNvPr id="4" name="Text 2"/>
          <p:cNvSpPr/>
          <p:nvPr/>
        </p:nvSpPr>
        <p:spPr>
          <a:xfrm>
            <a:off x="548640" y="749808"/>
            <a:ext cx="10789920" cy="365760"/>
          </a:xfrm>
          <a:prstGeom prst="rect">
            <a:avLst/>
          </a:prstGeom>
          <a:noFill/>
          <a:ln/>
        </p:spPr>
        <p:txBody>
          <a:bodyPr wrap="square" lIns="0" tIns="0" rIns="0" bIns="0" rtlCol="0" anchor="ctr"/>
          <a:lstStyle/>
          <a:p>
            <a:pPr marL="0" indent="0" algn="l">
              <a:buNone/>
            </a:pPr>
            <a:r>
              <a:rPr lang="en-US" sz="1300" i="1" dirty="0">
                <a:solidFill>
                  <a:srgbClr val="FFFFFF"/>
                </a:solidFill>
                <a:latin typeface="Calibri" pitchFamily="34" charset="0"/>
                <a:ea typeface="Calibri" pitchFamily="34" charset="-122"/>
                <a:cs typeface="Calibri" pitchFamily="34" charset="-120"/>
              </a:rPr>
              <a:t>Random Forest feature importance across all 13 model inputs</a:t>
            </a:r>
            <a:endParaRPr lang="en-US" sz="1300" dirty="0"/>
          </a:p>
        </p:txBody>
      </p:sp>
      <p:pic>
        <p:nvPicPr>
          <p:cNvPr id="5" name="Image 0" descr="chart_feature_importance.png"/>
          <p:cNvPicPr>
            <a:picLocks noChangeAspect="1"/>
          </p:cNvPicPr>
          <p:nvPr/>
        </p:nvPicPr>
        <p:blipFill>
          <a:blip r:embed="rId3"/>
          <a:srcRect/>
          <a:stretch/>
        </p:blipFill>
        <p:spPr>
          <a:xfrm>
            <a:off x="548640" y="1600200"/>
            <a:ext cx="6583680" cy="4480560"/>
          </a:xfrm>
          <a:prstGeom prst="rect">
            <a:avLst/>
          </a:prstGeom>
        </p:spPr>
      </p:pic>
      <p:sp>
        <p:nvSpPr>
          <p:cNvPr id="6" name="Text 3"/>
          <p:cNvSpPr/>
          <p:nvPr/>
        </p:nvSpPr>
        <p:spPr>
          <a:xfrm>
            <a:off x="7406640" y="2103120"/>
            <a:ext cx="4251960" cy="3657600"/>
          </a:xfrm>
          <a:prstGeom prst="rect">
            <a:avLst/>
          </a:prstGeom>
          <a:noFill/>
          <a:ln/>
        </p:spPr>
        <p:txBody>
          <a:bodyPr wrap="square" rtlCol="0" anchor="t"/>
          <a:lstStyle/>
          <a:p>
            <a:pPr marL="0" indent="0">
              <a:lnSpc>
                <a:spcPct val="130000"/>
              </a:lnSpc>
              <a:buNone/>
            </a:pPr>
            <a:r>
              <a:rPr lang="en-US" sz="1700" b="1" dirty="0">
                <a:solidFill>
                  <a:srgbClr val="0D1C78"/>
                </a:solidFill>
                <a:latin typeface="Calibri" pitchFamily="34" charset="0"/>
                <a:ea typeface="Calibri" pitchFamily="34" charset="-122"/>
                <a:cs typeface="Calibri" pitchFamily="34" charset="-120"/>
              </a:rPr>
              <a:t>Top 3 predictors
</a:t>
            </a:r>
            <a:endParaRPr lang="en-US" sz="1700" dirty="0"/>
          </a:p>
          <a:p>
            <a:pPr marL="0" indent="0">
              <a:lnSpc>
                <a:spcPct val="130000"/>
              </a:lnSpc>
              <a:buNone/>
            </a:pPr>
            <a:r>
              <a:rPr lang="en-US" sz="1300" dirty="0">
                <a:solidFill>
                  <a:srgbClr val="1F2937"/>
                </a:solidFill>
                <a:latin typeface="Calibri" pitchFamily="34" charset="0"/>
                <a:ea typeface="Calibri" pitchFamily="34" charset="-122"/>
                <a:cs typeface="Calibri" pitchFamily="34" charset="-120"/>
              </a:rPr>
              <a:t>YearBuilt, GrLivArea, and OverallQual — age, size, and build quality — together explain most of the variation the model captures.
</a:t>
            </a:r>
            <a:endParaRPr lang="en-US" sz="1700" dirty="0"/>
          </a:p>
          <a:p>
            <a:pPr marL="0" indent="0">
              <a:lnSpc>
                <a:spcPct val="130000"/>
              </a:lnSpc>
              <a:buNone/>
            </a:pPr>
            <a:r>
              <a:rPr lang="en-US" sz="1500" b="1" dirty="0">
                <a:solidFill>
                  <a:srgbClr val="B48C36"/>
                </a:solidFill>
                <a:latin typeface="Calibri" pitchFamily="34" charset="0"/>
                <a:ea typeface="Calibri" pitchFamily="34" charset="-122"/>
                <a:cs typeface="Calibri" pitchFamily="34" charset="-120"/>
              </a:rPr>
              <a:t>Cross-check
</a:t>
            </a:r>
            <a:endParaRPr lang="en-US" sz="1700" dirty="0"/>
          </a:p>
          <a:p>
            <a:pPr marL="0" indent="0">
              <a:lnSpc>
                <a:spcPct val="130000"/>
              </a:lnSpc>
              <a:buNone/>
            </a:pPr>
            <a:r>
              <a:rPr lang="en-US" sz="1300" i="1" dirty="0">
                <a:solidFill>
                  <a:srgbClr val="1F2937"/>
                </a:solidFill>
                <a:latin typeface="Calibri" pitchFamily="34" charset="0"/>
                <a:ea typeface="Calibri" pitchFamily="34" charset="-122"/>
                <a:cs typeface="Calibri" pitchFamily="34" charset="-120"/>
              </a:rPr>
              <a:t>This independently confirms the correlation analysis from the EDA stage — the model and the raw statistics agree on what matters most.</a:t>
            </a:r>
            <a:endParaRPr lang="en-US" sz="1700" dirty="0"/>
          </a:p>
        </p:txBody>
      </p:sp>
      <p:sp>
        <p:nvSpPr>
          <p:cNvPr id="7" name="Text 4"/>
          <p:cNvSpPr/>
          <p:nvPr/>
        </p:nvSpPr>
        <p:spPr>
          <a:xfrm>
            <a:off x="457200" y="6547104"/>
            <a:ext cx="5486400"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SmartHome Pricing Analytics</a:t>
            </a:r>
            <a:endParaRPr lang="en-US" sz="900" dirty="0"/>
          </a:p>
        </p:txBody>
      </p:sp>
      <p:sp>
        <p:nvSpPr>
          <p:cNvPr id="8" name="Text 5"/>
          <p:cNvSpPr/>
          <p:nvPr/>
        </p:nvSpPr>
        <p:spPr>
          <a:xfrm>
            <a:off x="11277295" y="6547104"/>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50931"/>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34440"/>
          </a:xfrm>
          <a:prstGeom prst="rect">
            <a:avLst/>
          </a:prstGeom>
          <a:solidFill>
            <a:srgbClr val="0D1C78"/>
          </a:solidFill>
          <a:ln/>
        </p:spPr>
      </p:sp>
      <p:sp>
        <p:nvSpPr>
          <p:cNvPr id="3" name="Text 1"/>
          <p:cNvSpPr/>
          <p:nvPr/>
        </p:nvSpPr>
        <p:spPr>
          <a:xfrm>
            <a:off x="548640" y="201168"/>
            <a:ext cx="10515600" cy="566928"/>
          </a:xfrm>
          <a:prstGeom prst="rect">
            <a:avLst/>
          </a:prstGeom>
          <a:noFill/>
          <a:ln/>
        </p:spPr>
        <p:txBody>
          <a:bodyPr wrap="square" lIns="0" tIns="0" rIns="0" bIns="0" rtlCol="0" anchor="ctr"/>
          <a:lstStyle/>
          <a:p>
            <a:pPr marL="0" indent="0">
              <a:buNone/>
            </a:pPr>
            <a:r>
              <a:rPr lang="en-US" sz="3000" b="1" dirty="0">
                <a:solidFill>
                  <a:srgbClr val="D4AF6A"/>
                </a:solidFill>
                <a:latin typeface="Cambria" pitchFamily="34" charset="0"/>
                <a:ea typeface="Cambria" pitchFamily="34" charset="-122"/>
                <a:cs typeface="Cambria" pitchFamily="34" charset="-120"/>
              </a:rPr>
              <a:t>AI-Generated Insights</a:t>
            </a:r>
            <a:endParaRPr lang="en-US" sz="3000" dirty="0"/>
          </a:p>
        </p:txBody>
      </p:sp>
      <p:sp>
        <p:nvSpPr>
          <p:cNvPr id="4" name="Text 2"/>
          <p:cNvSpPr/>
          <p:nvPr/>
        </p:nvSpPr>
        <p:spPr>
          <a:xfrm>
            <a:off x="548640" y="749808"/>
            <a:ext cx="10789920" cy="36576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Turning model output into plain-language findings</a:t>
            </a:r>
            <a:endParaRPr lang="en-US" sz="1300" dirty="0"/>
          </a:p>
        </p:txBody>
      </p:sp>
      <p:sp>
        <p:nvSpPr>
          <p:cNvPr id="5" name="Shape 3"/>
          <p:cNvSpPr/>
          <p:nvPr/>
        </p:nvSpPr>
        <p:spPr>
          <a:xfrm>
            <a:off x="548640" y="1600200"/>
            <a:ext cx="5349240" cy="1965960"/>
          </a:xfrm>
          <a:prstGeom prst="roundRect">
            <a:avLst>
              <a:gd name="adj" fmla="val 4186"/>
            </a:avLst>
          </a:prstGeom>
          <a:solidFill>
            <a:srgbClr val="0D1C78"/>
          </a:solidFill>
          <a:ln/>
        </p:spPr>
      </p:sp>
      <p:sp>
        <p:nvSpPr>
          <p:cNvPr id="6" name="Shape 4"/>
          <p:cNvSpPr/>
          <p:nvPr/>
        </p:nvSpPr>
        <p:spPr>
          <a:xfrm>
            <a:off x="804672" y="1856232"/>
            <a:ext cx="548640" cy="548640"/>
          </a:xfrm>
          <a:prstGeom prst="ellipse">
            <a:avLst/>
          </a:prstGeom>
          <a:solidFill>
            <a:srgbClr val="B48C36"/>
          </a:solidFill>
          <a:ln/>
        </p:spPr>
      </p:sp>
      <p:pic>
        <p:nvPicPr>
          <p:cNvPr id="7" name="Image 0" descr="icon_zap_navy.png"/>
          <p:cNvPicPr>
            <a:picLocks noChangeAspect="1"/>
          </p:cNvPicPr>
          <p:nvPr/>
        </p:nvPicPr>
        <p:blipFill>
          <a:blip r:embed="rId3"/>
          <a:stretch>
            <a:fillRect/>
          </a:stretch>
        </p:blipFill>
        <p:spPr>
          <a:xfrm>
            <a:off x="923544" y="1975104"/>
            <a:ext cx="310896" cy="310896"/>
          </a:xfrm>
          <a:prstGeom prst="rect">
            <a:avLst/>
          </a:prstGeom>
        </p:spPr>
      </p:pic>
      <p:sp>
        <p:nvSpPr>
          <p:cNvPr id="8" name="Text 5"/>
          <p:cNvSpPr/>
          <p:nvPr/>
        </p:nvSpPr>
        <p:spPr>
          <a:xfrm>
            <a:off x="1508760" y="1837944"/>
            <a:ext cx="4160520" cy="411480"/>
          </a:xfrm>
          <a:prstGeom prst="rect">
            <a:avLst/>
          </a:prstGeom>
          <a:noFill/>
          <a:ln/>
        </p:spPr>
        <p:txBody>
          <a:bodyPr wrap="square" lIns="0" tIns="0" rIns="0" bIns="0" rtlCol="0" anchor="ctr"/>
          <a:lstStyle/>
          <a:p>
            <a:pPr marL="0" indent="0">
              <a:buNone/>
            </a:pPr>
            <a:r>
              <a:rPr lang="en-US" sz="1500" b="1" dirty="0">
                <a:solidFill>
                  <a:srgbClr val="D4AF6A"/>
                </a:solidFill>
                <a:latin typeface="Cambria" pitchFamily="34" charset="0"/>
                <a:ea typeface="Cambria" pitchFamily="34" charset="-122"/>
                <a:cs typeface="Cambria" pitchFamily="34" charset="-120"/>
              </a:rPr>
              <a:t>Size wins</a:t>
            </a:r>
            <a:endParaRPr lang="en-US" sz="1500" dirty="0"/>
          </a:p>
        </p:txBody>
      </p:sp>
      <p:sp>
        <p:nvSpPr>
          <p:cNvPr id="9" name="Text 6"/>
          <p:cNvSpPr/>
          <p:nvPr/>
        </p:nvSpPr>
        <p:spPr>
          <a:xfrm>
            <a:off x="1508760" y="2286000"/>
            <a:ext cx="4160520" cy="1143000"/>
          </a:xfrm>
          <a:prstGeom prst="rect">
            <a:avLst/>
          </a:prstGeom>
          <a:noFill/>
          <a:ln/>
        </p:spPr>
        <p:txBody>
          <a:bodyPr wrap="square" lIns="0" tIns="0" rIns="0" bIns="0" rtlCol="0" anchor="t"/>
          <a:lstStyle/>
          <a:p>
            <a:pPr marL="0" indent="0">
              <a:lnSpc>
                <a:spcPct val="125000"/>
              </a:lnSpc>
              <a:buNone/>
            </a:pPr>
            <a:r>
              <a:rPr lang="en-US" sz="1200" dirty="0">
                <a:solidFill>
                  <a:srgbClr val="FFFFFF"/>
                </a:solidFill>
                <a:latin typeface="Calibri" pitchFamily="34" charset="0"/>
                <a:ea typeface="Calibri" pitchFamily="34" charset="-122"/>
                <a:cs typeface="Calibri" pitchFamily="34" charset="-120"/>
              </a:rPr>
              <a:t>Total living area is the single strongest price driver (r = 0.78)</a:t>
            </a:r>
            <a:endParaRPr lang="en-US" sz="1200" dirty="0"/>
          </a:p>
        </p:txBody>
      </p:sp>
      <p:sp>
        <p:nvSpPr>
          <p:cNvPr id="10" name="Shape 7"/>
          <p:cNvSpPr/>
          <p:nvPr/>
        </p:nvSpPr>
        <p:spPr>
          <a:xfrm>
            <a:off x="6217920" y="1600200"/>
            <a:ext cx="5349240" cy="1965960"/>
          </a:xfrm>
          <a:prstGeom prst="roundRect">
            <a:avLst>
              <a:gd name="adj" fmla="val 4186"/>
            </a:avLst>
          </a:prstGeom>
          <a:solidFill>
            <a:srgbClr val="0D1C78"/>
          </a:solidFill>
          <a:ln/>
        </p:spPr>
      </p:sp>
      <p:sp>
        <p:nvSpPr>
          <p:cNvPr id="11" name="Shape 8"/>
          <p:cNvSpPr/>
          <p:nvPr/>
        </p:nvSpPr>
        <p:spPr>
          <a:xfrm>
            <a:off x="6473952" y="1856232"/>
            <a:ext cx="548640" cy="548640"/>
          </a:xfrm>
          <a:prstGeom prst="ellipse">
            <a:avLst/>
          </a:prstGeom>
          <a:solidFill>
            <a:srgbClr val="B48C36"/>
          </a:solidFill>
          <a:ln/>
        </p:spPr>
      </p:sp>
      <p:pic>
        <p:nvPicPr>
          <p:cNvPr id="12" name="Image 1" descr="icon_trending_navy.png"/>
          <p:cNvPicPr>
            <a:picLocks noChangeAspect="1"/>
          </p:cNvPicPr>
          <p:nvPr/>
        </p:nvPicPr>
        <p:blipFill>
          <a:blip r:embed="rId4"/>
          <a:stretch>
            <a:fillRect/>
          </a:stretch>
        </p:blipFill>
        <p:spPr>
          <a:xfrm>
            <a:off x="6592824" y="1975104"/>
            <a:ext cx="310896" cy="310896"/>
          </a:xfrm>
          <a:prstGeom prst="rect">
            <a:avLst/>
          </a:prstGeom>
        </p:spPr>
      </p:pic>
      <p:sp>
        <p:nvSpPr>
          <p:cNvPr id="13" name="Text 9"/>
          <p:cNvSpPr/>
          <p:nvPr/>
        </p:nvSpPr>
        <p:spPr>
          <a:xfrm>
            <a:off x="7178040" y="1837944"/>
            <a:ext cx="4160520" cy="411480"/>
          </a:xfrm>
          <a:prstGeom prst="rect">
            <a:avLst/>
          </a:prstGeom>
          <a:noFill/>
          <a:ln/>
        </p:spPr>
        <p:txBody>
          <a:bodyPr wrap="square" lIns="0" tIns="0" rIns="0" bIns="0" rtlCol="0" anchor="ctr"/>
          <a:lstStyle/>
          <a:p>
            <a:pPr marL="0" indent="0">
              <a:buNone/>
            </a:pPr>
            <a:r>
              <a:rPr lang="en-US" sz="1500" b="1" dirty="0">
                <a:solidFill>
                  <a:srgbClr val="D4AF6A"/>
                </a:solidFill>
                <a:latin typeface="Cambria" pitchFamily="34" charset="0"/>
                <a:ea typeface="Cambria" pitchFamily="34" charset="-122"/>
                <a:cs typeface="Cambria" pitchFamily="34" charset="-120"/>
              </a:rPr>
              <a:t>Recency beats history</a:t>
            </a:r>
            <a:endParaRPr lang="en-US" sz="1500" dirty="0"/>
          </a:p>
        </p:txBody>
      </p:sp>
      <p:sp>
        <p:nvSpPr>
          <p:cNvPr id="14" name="Text 10"/>
          <p:cNvSpPr/>
          <p:nvPr/>
        </p:nvSpPr>
        <p:spPr>
          <a:xfrm>
            <a:off x="7178040" y="2286000"/>
            <a:ext cx="4160520" cy="1143000"/>
          </a:xfrm>
          <a:prstGeom prst="rect">
            <a:avLst/>
          </a:prstGeom>
          <a:noFill/>
          <a:ln/>
        </p:spPr>
        <p:txBody>
          <a:bodyPr wrap="square" lIns="0" tIns="0" rIns="0" bIns="0" rtlCol="0" anchor="t"/>
          <a:lstStyle/>
          <a:p>
            <a:pPr marL="0" indent="0">
              <a:lnSpc>
                <a:spcPct val="125000"/>
              </a:lnSpc>
              <a:buNone/>
            </a:pPr>
            <a:r>
              <a:rPr lang="en-US" sz="1200" dirty="0">
                <a:solidFill>
                  <a:srgbClr val="FFFFFF"/>
                </a:solidFill>
                <a:latin typeface="Calibri" pitchFamily="34" charset="0"/>
                <a:ea typeface="Calibri" pitchFamily="34" charset="-122"/>
                <a:cs typeface="Calibri" pitchFamily="34" charset="-120"/>
              </a:rPr>
              <a:t>How recently a house was renovated matters far more than whether it was ever renovated</a:t>
            </a:r>
            <a:endParaRPr lang="en-US" sz="1200" dirty="0"/>
          </a:p>
        </p:txBody>
      </p:sp>
      <p:sp>
        <p:nvSpPr>
          <p:cNvPr id="15" name="Shape 11"/>
          <p:cNvSpPr/>
          <p:nvPr/>
        </p:nvSpPr>
        <p:spPr>
          <a:xfrm>
            <a:off x="548640" y="3749040"/>
            <a:ext cx="5349240" cy="1965960"/>
          </a:xfrm>
          <a:prstGeom prst="roundRect">
            <a:avLst>
              <a:gd name="adj" fmla="val 4186"/>
            </a:avLst>
          </a:prstGeom>
          <a:solidFill>
            <a:srgbClr val="0D1C78"/>
          </a:solidFill>
          <a:ln/>
        </p:spPr>
      </p:sp>
      <p:sp>
        <p:nvSpPr>
          <p:cNvPr id="16" name="Shape 12"/>
          <p:cNvSpPr/>
          <p:nvPr/>
        </p:nvSpPr>
        <p:spPr>
          <a:xfrm>
            <a:off x="804672" y="4005072"/>
            <a:ext cx="548640" cy="548640"/>
          </a:xfrm>
          <a:prstGeom prst="ellipse">
            <a:avLst/>
          </a:prstGeom>
          <a:solidFill>
            <a:srgbClr val="B48C36"/>
          </a:solidFill>
          <a:ln/>
        </p:spPr>
      </p:sp>
      <p:pic>
        <p:nvPicPr>
          <p:cNvPr id="17" name="Image 2" descr="icon_mappin_navy.png"/>
          <p:cNvPicPr>
            <a:picLocks noChangeAspect="1"/>
          </p:cNvPicPr>
          <p:nvPr/>
        </p:nvPicPr>
        <p:blipFill>
          <a:blip r:embed="rId5"/>
          <a:stretch>
            <a:fillRect/>
          </a:stretch>
        </p:blipFill>
        <p:spPr>
          <a:xfrm>
            <a:off x="923544" y="4123944"/>
            <a:ext cx="310896" cy="310896"/>
          </a:xfrm>
          <a:prstGeom prst="rect">
            <a:avLst/>
          </a:prstGeom>
        </p:spPr>
      </p:pic>
      <p:sp>
        <p:nvSpPr>
          <p:cNvPr id="18" name="Text 13"/>
          <p:cNvSpPr/>
          <p:nvPr/>
        </p:nvSpPr>
        <p:spPr>
          <a:xfrm>
            <a:off x="1508760" y="3986784"/>
            <a:ext cx="4160520" cy="411480"/>
          </a:xfrm>
          <a:prstGeom prst="rect">
            <a:avLst/>
          </a:prstGeom>
          <a:noFill/>
          <a:ln/>
        </p:spPr>
        <p:txBody>
          <a:bodyPr wrap="square" lIns="0" tIns="0" rIns="0" bIns="0" rtlCol="0" anchor="ctr"/>
          <a:lstStyle/>
          <a:p>
            <a:pPr marL="0" indent="0">
              <a:buNone/>
            </a:pPr>
            <a:r>
              <a:rPr lang="en-US" sz="1500" b="1" dirty="0">
                <a:solidFill>
                  <a:srgbClr val="D4AF6A"/>
                </a:solidFill>
                <a:latin typeface="Cambria" pitchFamily="34" charset="0"/>
                <a:ea typeface="Cambria" pitchFamily="34" charset="-122"/>
                <a:cs typeface="Cambria" pitchFamily="34" charset="-120"/>
              </a:rPr>
              <a:t>Location creates a 3x gap</a:t>
            </a:r>
            <a:endParaRPr lang="en-US" sz="1500" dirty="0"/>
          </a:p>
        </p:txBody>
      </p:sp>
      <p:sp>
        <p:nvSpPr>
          <p:cNvPr id="19" name="Text 14"/>
          <p:cNvSpPr/>
          <p:nvPr/>
        </p:nvSpPr>
        <p:spPr>
          <a:xfrm>
            <a:off x="1508760" y="4434840"/>
            <a:ext cx="4160520" cy="1143000"/>
          </a:xfrm>
          <a:prstGeom prst="rect">
            <a:avLst/>
          </a:prstGeom>
          <a:noFill/>
          <a:ln/>
        </p:spPr>
        <p:txBody>
          <a:bodyPr wrap="square" lIns="0" tIns="0" rIns="0" bIns="0" rtlCol="0" anchor="t"/>
          <a:lstStyle/>
          <a:p>
            <a:pPr marL="0" indent="0">
              <a:lnSpc>
                <a:spcPct val="125000"/>
              </a:lnSpc>
              <a:buNone/>
            </a:pPr>
            <a:r>
              <a:rPr lang="en-US" sz="1200" dirty="0">
                <a:solidFill>
                  <a:srgbClr val="FFFFFF"/>
                </a:solidFill>
                <a:latin typeface="Calibri" pitchFamily="34" charset="0"/>
                <a:ea typeface="Calibri" pitchFamily="34" charset="-122"/>
                <a:cs typeface="Calibri" pitchFamily="34" charset="-120"/>
              </a:rPr>
              <a:t>Average price swings from $98K to $335K purely based on neighborhood</a:t>
            </a:r>
            <a:endParaRPr lang="en-US" sz="1200" dirty="0"/>
          </a:p>
        </p:txBody>
      </p:sp>
      <p:sp>
        <p:nvSpPr>
          <p:cNvPr id="20" name="Shape 15"/>
          <p:cNvSpPr/>
          <p:nvPr/>
        </p:nvSpPr>
        <p:spPr>
          <a:xfrm>
            <a:off x="6217920" y="3749040"/>
            <a:ext cx="5349240" cy="1965960"/>
          </a:xfrm>
          <a:prstGeom prst="roundRect">
            <a:avLst>
              <a:gd name="adj" fmla="val 4186"/>
            </a:avLst>
          </a:prstGeom>
          <a:solidFill>
            <a:srgbClr val="0D1C78"/>
          </a:solidFill>
          <a:ln/>
        </p:spPr>
      </p:sp>
      <p:sp>
        <p:nvSpPr>
          <p:cNvPr id="21" name="Shape 16"/>
          <p:cNvSpPr/>
          <p:nvPr/>
        </p:nvSpPr>
        <p:spPr>
          <a:xfrm>
            <a:off x="6473952" y="4005072"/>
            <a:ext cx="548640" cy="548640"/>
          </a:xfrm>
          <a:prstGeom prst="ellipse">
            <a:avLst/>
          </a:prstGeom>
          <a:solidFill>
            <a:srgbClr val="B48C36"/>
          </a:solidFill>
          <a:ln/>
        </p:spPr>
      </p:sp>
      <p:pic>
        <p:nvPicPr>
          <p:cNvPr id="22" name="Image 3" descr="icon_star_navy.png"/>
          <p:cNvPicPr>
            <a:picLocks noChangeAspect="1"/>
          </p:cNvPicPr>
          <p:nvPr/>
        </p:nvPicPr>
        <p:blipFill>
          <a:blip r:embed="rId6"/>
          <a:stretch>
            <a:fillRect/>
          </a:stretch>
        </p:blipFill>
        <p:spPr>
          <a:xfrm>
            <a:off x="6592824" y="4123944"/>
            <a:ext cx="310896" cy="310896"/>
          </a:xfrm>
          <a:prstGeom prst="rect">
            <a:avLst/>
          </a:prstGeom>
        </p:spPr>
      </p:pic>
      <p:sp>
        <p:nvSpPr>
          <p:cNvPr id="23" name="Text 17"/>
          <p:cNvSpPr/>
          <p:nvPr/>
        </p:nvSpPr>
        <p:spPr>
          <a:xfrm>
            <a:off x="7178040" y="3986784"/>
            <a:ext cx="4160520" cy="411480"/>
          </a:xfrm>
          <a:prstGeom prst="rect">
            <a:avLst/>
          </a:prstGeom>
          <a:noFill/>
          <a:ln/>
        </p:spPr>
        <p:txBody>
          <a:bodyPr wrap="square" lIns="0" tIns="0" rIns="0" bIns="0" rtlCol="0" anchor="ctr"/>
          <a:lstStyle/>
          <a:p>
            <a:pPr marL="0" indent="0">
              <a:buNone/>
            </a:pPr>
            <a:r>
              <a:rPr lang="en-US" sz="1500" b="1" dirty="0">
                <a:solidFill>
                  <a:srgbClr val="D4AF6A"/>
                </a:solidFill>
                <a:latin typeface="Cambria" pitchFamily="34" charset="0"/>
                <a:ea typeface="Cambria" pitchFamily="34" charset="-122"/>
                <a:cs typeface="Cambria" pitchFamily="34" charset="-120"/>
              </a:rPr>
              <a:t>Comfort pays off</a:t>
            </a:r>
            <a:endParaRPr lang="en-US" sz="1500" dirty="0"/>
          </a:p>
        </p:txBody>
      </p:sp>
      <p:sp>
        <p:nvSpPr>
          <p:cNvPr id="24" name="Text 18"/>
          <p:cNvSpPr/>
          <p:nvPr/>
        </p:nvSpPr>
        <p:spPr>
          <a:xfrm>
            <a:off x="7178040" y="4434840"/>
            <a:ext cx="4160520" cy="1143000"/>
          </a:xfrm>
          <a:prstGeom prst="rect">
            <a:avLst/>
          </a:prstGeom>
          <a:noFill/>
          <a:ln/>
        </p:spPr>
        <p:txBody>
          <a:bodyPr wrap="square" lIns="0" tIns="0" rIns="0" bIns="0" rtlCol="0" anchor="t"/>
          <a:lstStyle/>
          <a:p>
            <a:pPr marL="0" indent="0">
              <a:lnSpc>
                <a:spcPct val="125000"/>
              </a:lnSpc>
              <a:buNone/>
            </a:pPr>
            <a:r>
              <a:rPr lang="en-US" sz="1200" dirty="0">
                <a:solidFill>
                  <a:srgbClr val="FFFFFF"/>
                </a:solidFill>
                <a:latin typeface="Calibri" pitchFamily="34" charset="0"/>
                <a:ea typeface="Calibri" pitchFamily="34" charset="-122"/>
                <a:cs typeface="Calibri" pitchFamily="34" charset="-120"/>
              </a:rPr>
              <a:t>Houses with a fireplace sell for 53% more on average</a:t>
            </a:r>
            <a:endParaRPr lang="en-US" sz="1200" dirty="0"/>
          </a:p>
        </p:txBody>
      </p:sp>
      <p:sp>
        <p:nvSpPr>
          <p:cNvPr id="25" name="Text 19"/>
          <p:cNvSpPr/>
          <p:nvPr/>
        </p:nvSpPr>
        <p:spPr>
          <a:xfrm>
            <a:off x="457200" y="6547104"/>
            <a:ext cx="5486400"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SmartHome Pricing Analytics</a:t>
            </a:r>
            <a:endParaRPr lang="en-US" sz="900" dirty="0"/>
          </a:p>
        </p:txBody>
      </p:sp>
      <p:sp>
        <p:nvSpPr>
          <p:cNvPr id="26" name="Text 20"/>
          <p:cNvSpPr/>
          <p:nvPr/>
        </p:nvSpPr>
        <p:spPr>
          <a:xfrm>
            <a:off x="11277295" y="6547104"/>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EDED"/>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34440"/>
          </a:xfrm>
          <a:prstGeom prst="rect">
            <a:avLst/>
          </a:prstGeom>
          <a:solidFill>
            <a:srgbClr val="0D1C78"/>
          </a:solidFill>
          <a:ln/>
        </p:spPr>
      </p:sp>
      <p:sp>
        <p:nvSpPr>
          <p:cNvPr id="3" name="Text 1"/>
          <p:cNvSpPr/>
          <p:nvPr/>
        </p:nvSpPr>
        <p:spPr>
          <a:xfrm>
            <a:off x="548640" y="201168"/>
            <a:ext cx="10515600" cy="566928"/>
          </a:xfrm>
          <a:prstGeom prst="rect">
            <a:avLst/>
          </a:prstGeom>
          <a:noFill/>
          <a:ln/>
        </p:spPr>
        <p:txBody>
          <a:bodyPr wrap="square" lIns="0" tIns="0" rIns="0" bIns="0" rtlCol="0" anchor="ctr"/>
          <a:lstStyle/>
          <a:p>
            <a:pPr marL="0" indent="0" algn="l">
              <a:buNone/>
            </a:pPr>
            <a:r>
              <a:rPr lang="en-US" sz="3000" b="1" dirty="0">
                <a:solidFill>
                  <a:srgbClr val="D4AF6A"/>
                </a:solidFill>
                <a:latin typeface="Cambria" pitchFamily="34" charset="0"/>
                <a:ea typeface="Cambria" pitchFamily="34" charset="-122"/>
                <a:cs typeface="Cambria" pitchFamily="34" charset="-120"/>
              </a:rPr>
              <a:t>Business Recommendations</a:t>
            </a:r>
            <a:endParaRPr lang="en-US" sz="3000" dirty="0"/>
          </a:p>
        </p:txBody>
      </p:sp>
      <p:sp>
        <p:nvSpPr>
          <p:cNvPr id="4" name="Text 2"/>
          <p:cNvSpPr/>
          <p:nvPr/>
        </p:nvSpPr>
        <p:spPr>
          <a:xfrm>
            <a:off x="548640" y="749808"/>
            <a:ext cx="10789920" cy="365760"/>
          </a:xfrm>
          <a:prstGeom prst="rect">
            <a:avLst/>
          </a:prstGeom>
          <a:noFill/>
          <a:ln/>
        </p:spPr>
        <p:txBody>
          <a:bodyPr wrap="square" lIns="0" tIns="0" rIns="0" bIns="0" rtlCol="0" anchor="ctr"/>
          <a:lstStyle/>
          <a:p>
            <a:pPr marL="0" indent="0" algn="l">
              <a:buNone/>
            </a:pPr>
            <a:r>
              <a:rPr lang="en-US" sz="1300" i="1" dirty="0">
                <a:solidFill>
                  <a:srgbClr val="FFFFFF"/>
                </a:solidFill>
                <a:latin typeface="Calibri" pitchFamily="34" charset="0"/>
                <a:ea typeface="Calibri" pitchFamily="34" charset="-122"/>
                <a:cs typeface="Calibri" pitchFamily="34" charset="-120"/>
              </a:rPr>
              <a:t>From insight to action</a:t>
            </a:r>
            <a:endParaRPr lang="en-US" sz="1300" dirty="0"/>
          </a:p>
        </p:txBody>
      </p:sp>
      <p:sp>
        <p:nvSpPr>
          <p:cNvPr id="5" name="Shape 3"/>
          <p:cNvSpPr/>
          <p:nvPr/>
        </p:nvSpPr>
        <p:spPr>
          <a:xfrm>
            <a:off x="548640" y="1691640"/>
            <a:ext cx="11018520" cy="731520"/>
          </a:xfrm>
          <a:prstGeom prst="roundRect">
            <a:avLst>
              <a:gd name="adj" fmla="val 10000"/>
            </a:avLst>
          </a:prstGeom>
          <a:solidFill>
            <a:srgbClr val="FFFFFF"/>
          </a:solidFill>
          <a:ln w="9525">
            <a:solidFill>
              <a:srgbClr val="DDDCDC"/>
            </a:solidFill>
            <a:prstDash val="solid"/>
          </a:ln>
        </p:spPr>
      </p:sp>
      <p:sp>
        <p:nvSpPr>
          <p:cNvPr id="6" name="Shape 4"/>
          <p:cNvSpPr/>
          <p:nvPr/>
        </p:nvSpPr>
        <p:spPr>
          <a:xfrm>
            <a:off x="777240" y="1874520"/>
            <a:ext cx="365760" cy="365760"/>
          </a:xfrm>
          <a:prstGeom prst="ellipse">
            <a:avLst/>
          </a:prstGeom>
          <a:solidFill>
            <a:srgbClr val="B48C36"/>
          </a:solidFill>
          <a:ln/>
        </p:spPr>
      </p:sp>
      <p:sp>
        <p:nvSpPr>
          <p:cNvPr id="7" name="Text 5"/>
          <p:cNvSpPr/>
          <p:nvPr/>
        </p:nvSpPr>
        <p:spPr>
          <a:xfrm>
            <a:off x="777240" y="18745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p:nvPr/>
        </p:nvSpPr>
        <p:spPr>
          <a:xfrm>
            <a:off x="1325880" y="1691640"/>
            <a:ext cx="9966960" cy="731520"/>
          </a:xfrm>
          <a:prstGeom prst="rect">
            <a:avLst/>
          </a:prstGeom>
          <a:noFill/>
          <a:ln/>
        </p:spPr>
        <p:txBody>
          <a:bodyPr wrap="square" lIns="0" tIns="0" rIns="0" bIns="0" rtlCol="0" anchor="ctr"/>
          <a:lstStyle/>
          <a:p>
            <a:pPr marL="0" indent="0">
              <a:buNone/>
            </a:pPr>
            <a:r>
              <a:rPr lang="en-US" sz="1250" dirty="0">
                <a:solidFill>
                  <a:srgbClr val="1F2937"/>
                </a:solidFill>
                <a:latin typeface="Calibri" pitchFamily="34" charset="0"/>
                <a:ea typeface="Calibri" pitchFamily="34" charset="-122"/>
                <a:cs typeface="Calibri" pitchFamily="34" charset="-120"/>
              </a:rPr>
              <a:t>Prioritize size and layout in renovation investment — TotalSF is the strongest driver of value</a:t>
            </a:r>
            <a:endParaRPr lang="en-US" sz="1250" dirty="0"/>
          </a:p>
        </p:txBody>
      </p:sp>
      <p:sp>
        <p:nvSpPr>
          <p:cNvPr id="9" name="Shape 7"/>
          <p:cNvSpPr/>
          <p:nvPr/>
        </p:nvSpPr>
        <p:spPr>
          <a:xfrm>
            <a:off x="548640" y="2587752"/>
            <a:ext cx="11018520" cy="731520"/>
          </a:xfrm>
          <a:prstGeom prst="roundRect">
            <a:avLst>
              <a:gd name="adj" fmla="val 10000"/>
            </a:avLst>
          </a:prstGeom>
          <a:solidFill>
            <a:srgbClr val="FFFFFF"/>
          </a:solidFill>
          <a:ln w="9525">
            <a:solidFill>
              <a:srgbClr val="DDDCDC"/>
            </a:solidFill>
            <a:prstDash val="solid"/>
          </a:ln>
        </p:spPr>
      </p:sp>
      <p:sp>
        <p:nvSpPr>
          <p:cNvPr id="10" name="Shape 8"/>
          <p:cNvSpPr/>
          <p:nvPr/>
        </p:nvSpPr>
        <p:spPr>
          <a:xfrm>
            <a:off x="777240" y="2770632"/>
            <a:ext cx="365760" cy="365760"/>
          </a:xfrm>
          <a:prstGeom prst="ellipse">
            <a:avLst/>
          </a:prstGeom>
          <a:solidFill>
            <a:srgbClr val="B48C36"/>
          </a:solidFill>
          <a:ln/>
        </p:spPr>
      </p:sp>
      <p:sp>
        <p:nvSpPr>
          <p:cNvPr id="11" name="Text 9"/>
          <p:cNvSpPr/>
          <p:nvPr/>
        </p:nvSpPr>
        <p:spPr>
          <a:xfrm>
            <a:off x="777240" y="2770632"/>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p:nvPr/>
        </p:nvSpPr>
        <p:spPr>
          <a:xfrm>
            <a:off x="1325880" y="2587752"/>
            <a:ext cx="9966960" cy="731520"/>
          </a:xfrm>
          <a:prstGeom prst="rect">
            <a:avLst/>
          </a:prstGeom>
          <a:noFill/>
          <a:ln/>
        </p:spPr>
        <p:txBody>
          <a:bodyPr wrap="square" lIns="0" tIns="0" rIns="0" bIns="0" rtlCol="0" anchor="ctr"/>
          <a:lstStyle/>
          <a:p>
            <a:pPr marL="0" indent="0">
              <a:buNone/>
            </a:pPr>
            <a:r>
              <a:rPr lang="en-US" sz="1250" dirty="0">
                <a:solidFill>
                  <a:srgbClr val="1F2937"/>
                </a:solidFill>
                <a:latin typeface="Calibri" pitchFamily="34" charset="0"/>
                <a:ea typeface="Calibri" pitchFamily="34" charset="-122"/>
                <a:cs typeface="Calibri" pitchFamily="34" charset="-120"/>
              </a:rPr>
              <a:t>Time renovations strategically — recency matters more than the fact a renovation happened</a:t>
            </a:r>
            <a:endParaRPr lang="en-US" sz="1250" dirty="0"/>
          </a:p>
        </p:txBody>
      </p:sp>
      <p:sp>
        <p:nvSpPr>
          <p:cNvPr id="13" name="Shape 11"/>
          <p:cNvSpPr/>
          <p:nvPr/>
        </p:nvSpPr>
        <p:spPr>
          <a:xfrm>
            <a:off x="548640" y="3483864"/>
            <a:ext cx="11018520" cy="731520"/>
          </a:xfrm>
          <a:prstGeom prst="roundRect">
            <a:avLst>
              <a:gd name="adj" fmla="val 10000"/>
            </a:avLst>
          </a:prstGeom>
          <a:solidFill>
            <a:srgbClr val="FFFFFF"/>
          </a:solidFill>
          <a:ln w="9525">
            <a:solidFill>
              <a:srgbClr val="DDDCDC"/>
            </a:solidFill>
            <a:prstDash val="solid"/>
          </a:ln>
        </p:spPr>
      </p:sp>
      <p:sp>
        <p:nvSpPr>
          <p:cNvPr id="14" name="Shape 12"/>
          <p:cNvSpPr/>
          <p:nvPr/>
        </p:nvSpPr>
        <p:spPr>
          <a:xfrm>
            <a:off x="777240" y="3666744"/>
            <a:ext cx="365760" cy="365760"/>
          </a:xfrm>
          <a:prstGeom prst="ellipse">
            <a:avLst/>
          </a:prstGeom>
          <a:solidFill>
            <a:srgbClr val="B48C36"/>
          </a:solidFill>
          <a:ln/>
        </p:spPr>
      </p:sp>
      <p:sp>
        <p:nvSpPr>
          <p:cNvPr id="15" name="Text 13"/>
          <p:cNvSpPr/>
          <p:nvPr/>
        </p:nvSpPr>
        <p:spPr>
          <a:xfrm>
            <a:off x="777240" y="366674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6" name="Text 14"/>
          <p:cNvSpPr/>
          <p:nvPr/>
        </p:nvSpPr>
        <p:spPr>
          <a:xfrm>
            <a:off x="1325880" y="3483864"/>
            <a:ext cx="9966960" cy="731520"/>
          </a:xfrm>
          <a:prstGeom prst="rect">
            <a:avLst/>
          </a:prstGeom>
          <a:noFill/>
          <a:ln/>
        </p:spPr>
        <p:txBody>
          <a:bodyPr wrap="square" lIns="0" tIns="0" rIns="0" bIns="0" rtlCol="0" anchor="ctr"/>
          <a:lstStyle/>
          <a:p>
            <a:pPr marL="0" indent="0">
              <a:buNone/>
            </a:pPr>
            <a:r>
              <a:rPr lang="en-US" sz="1250" dirty="0">
                <a:solidFill>
                  <a:srgbClr val="1F2937"/>
                </a:solidFill>
                <a:latin typeface="Calibri" pitchFamily="34" charset="0"/>
                <a:ea typeface="Calibri" pitchFamily="34" charset="-122"/>
                <a:cs typeface="Calibri" pitchFamily="34" charset="-120"/>
              </a:rPr>
              <a:t>Use neighborhood as a segmentation variable, not just a feature, given the 3x price gap</a:t>
            </a:r>
            <a:endParaRPr lang="en-US" sz="1250" dirty="0"/>
          </a:p>
        </p:txBody>
      </p:sp>
      <p:sp>
        <p:nvSpPr>
          <p:cNvPr id="17" name="Shape 15"/>
          <p:cNvSpPr/>
          <p:nvPr/>
        </p:nvSpPr>
        <p:spPr>
          <a:xfrm>
            <a:off x="548640" y="4379976"/>
            <a:ext cx="11018520" cy="731520"/>
          </a:xfrm>
          <a:prstGeom prst="roundRect">
            <a:avLst>
              <a:gd name="adj" fmla="val 10000"/>
            </a:avLst>
          </a:prstGeom>
          <a:solidFill>
            <a:srgbClr val="FFFFFF"/>
          </a:solidFill>
          <a:ln w="9525">
            <a:solidFill>
              <a:srgbClr val="DDDCDC"/>
            </a:solidFill>
            <a:prstDash val="solid"/>
          </a:ln>
        </p:spPr>
      </p:sp>
      <p:sp>
        <p:nvSpPr>
          <p:cNvPr id="18" name="Shape 16"/>
          <p:cNvSpPr/>
          <p:nvPr/>
        </p:nvSpPr>
        <p:spPr>
          <a:xfrm>
            <a:off x="777240" y="4562856"/>
            <a:ext cx="365760" cy="365760"/>
          </a:xfrm>
          <a:prstGeom prst="ellipse">
            <a:avLst/>
          </a:prstGeom>
          <a:solidFill>
            <a:srgbClr val="B48C36"/>
          </a:solidFill>
          <a:ln/>
        </p:spPr>
      </p:sp>
      <p:sp>
        <p:nvSpPr>
          <p:cNvPr id="19" name="Text 17"/>
          <p:cNvSpPr/>
          <p:nvPr/>
        </p:nvSpPr>
        <p:spPr>
          <a:xfrm>
            <a:off x="777240" y="456285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0" name="Text 18"/>
          <p:cNvSpPr/>
          <p:nvPr/>
        </p:nvSpPr>
        <p:spPr>
          <a:xfrm>
            <a:off x="1325880" y="4379976"/>
            <a:ext cx="9966960" cy="731520"/>
          </a:xfrm>
          <a:prstGeom prst="rect">
            <a:avLst/>
          </a:prstGeom>
          <a:noFill/>
          <a:ln/>
        </p:spPr>
        <p:txBody>
          <a:bodyPr wrap="square" lIns="0" tIns="0" rIns="0" bIns="0" rtlCol="0" anchor="ctr"/>
          <a:lstStyle/>
          <a:p>
            <a:pPr marL="0" indent="0">
              <a:buNone/>
            </a:pPr>
            <a:r>
              <a:rPr lang="en-US" sz="1250" dirty="0">
                <a:solidFill>
                  <a:srgbClr val="1F2937"/>
                </a:solidFill>
                <a:latin typeface="Calibri" pitchFamily="34" charset="0"/>
                <a:ea typeface="Calibri" pitchFamily="34" charset="-122"/>
                <a:cs typeface="Calibri" pitchFamily="34" charset="-120"/>
              </a:rPr>
              <a:t>Highlight fireplaces and similar comfort features prominently in listings</a:t>
            </a:r>
            <a:endParaRPr lang="en-US" sz="1250" dirty="0"/>
          </a:p>
        </p:txBody>
      </p:sp>
      <p:sp>
        <p:nvSpPr>
          <p:cNvPr id="21" name="Shape 19"/>
          <p:cNvSpPr/>
          <p:nvPr/>
        </p:nvSpPr>
        <p:spPr>
          <a:xfrm>
            <a:off x="548640" y="5276088"/>
            <a:ext cx="11018520" cy="731520"/>
          </a:xfrm>
          <a:prstGeom prst="roundRect">
            <a:avLst>
              <a:gd name="adj" fmla="val 10000"/>
            </a:avLst>
          </a:prstGeom>
          <a:solidFill>
            <a:srgbClr val="FFFFFF"/>
          </a:solidFill>
          <a:ln w="9525">
            <a:solidFill>
              <a:srgbClr val="DDDCDC"/>
            </a:solidFill>
            <a:prstDash val="solid"/>
          </a:ln>
        </p:spPr>
      </p:sp>
      <p:sp>
        <p:nvSpPr>
          <p:cNvPr id="22" name="Shape 20"/>
          <p:cNvSpPr/>
          <p:nvPr/>
        </p:nvSpPr>
        <p:spPr>
          <a:xfrm>
            <a:off x="777240" y="5458968"/>
            <a:ext cx="365760" cy="365760"/>
          </a:xfrm>
          <a:prstGeom prst="ellipse">
            <a:avLst/>
          </a:prstGeom>
          <a:solidFill>
            <a:srgbClr val="B48C36"/>
          </a:solidFill>
          <a:ln/>
        </p:spPr>
      </p:sp>
      <p:sp>
        <p:nvSpPr>
          <p:cNvPr id="23" name="Text 21"/>
          <p:cNvSpPr/>
          <p:nvPr/>
        </p:nvSpPr>
        <p:spPr>
          <a:xfrm>
            <a:off x="777240" y="545896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4" name="Text 22"/>
          <p:cNvSpPr/>
          <p:nvPr/>
        </p:nvSpPr>
        <p:spPr>
          <a:xfrm>
            <a:off x="1325880" y="5276088"/>
            <a:ext cx="9966960" cy="731520"/>
          </a:xfrm>
          <a:prstGeom prst="rect">
            <a:avLst/>
          </a:prstGeom>
          <a:noFill/>
          <a:ln/>
        </p:spPr>
        <p:txBody>
          <a:bodyPr wrap="square" lIns="0" tIns="0" rIns="0" bIns="0" rtlCol="0" anchor="ctr"/>
          <a:lstStyle/>
          <a:p>
            <a:pPr marL="0" indent="0">
              <a:buNone/>
            </a:pPr>
            <a:r>
              <a:rPr lang="en-US" sz="1250" dirty="0">
                <a:solidFill>
                  <a:srgbClr val="1F2937"/>
                </a:solidFill>
                <a:latin typeface="Calibri" pitchFamily="34" charset="0"/>
                <a:ea typeface="Calibri" pitchFamily="34" charset="-122"/>
                <a:cs typeface="Calibri" pitchFamily="34" charset="-120"/>
              </a:rPr>
              <a:t>Use the model as a second opinion, not a final price — flag properties that deviate from prediction for manual review</a:t>
            </a:r>
            <a:endParaRPr lang="en-US" sz="1250" dirty="0"/>
          </a:p>
        </p:txBody>
      </p:sp>
      <p:sp>
        <p:nvSpPr>
          <p:cNvPr id="25" name="Text 23"/>
          <p:cNvSpPr/>
          <p:nvPr/>
        </p:nvSpPr>
        <p:spPr>
          <a:xfrm>
            <a:off x="457200" y="6547104"/>
            <a:ext cx="5486400"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SmartHome Pricing Analytics</a:t>
            </a:r>
            <a:endParaRPr lang="en-US" sz="900" dirty="0"/>
          </a:p>
        </p:txBody>
      </p:sp>
      <p:sp>
        <p:nvSpPr>
          <p:cNvPr id="26" name="Text 24"/>
          <p:cNvSpPr/>
          <p:nvPr/>
        </p:nvSpPr>
        <p:spPr>
          <a:xfrm>
            <a:off x="11277295" y="6547104"/>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EDED"/>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34440"/>
          </a:xfrm>
          <a:prstGeom prst="rect">
            <a:avLst/>
          </a:prstGeom>
          <a:solidFill>
            <a:srgbClr val="0D1C78"/>
          </a:solidFill>
          <a:ln/>
        </p:spPr>
      </p:sp>
      <p:sp>
        <p:nvSpPr>
          <p:cNvPr id="3" name="Text 1"/>
          <p:cNvSpPr/>
          <p:nvPr/>
        </p:nvSpPr>
        <p:spPr>
          <a:xfrm>
            <a:off x="548640" y="201168"/>
            <a:ext cx="10515600" cy="566928"/>
          </a:xfrm>
          <a:prstGeom prst="rect">
            <a:avLst/>
          </a:prstGeom>
          <a:noFill/>
          <a:ln/>
        </p:spPr>
        <p:txBody>
          <a:bodyPr wrap="square" lIns="0" tIns="0" rIns="0" bIns="0" rtlCol="0" anchor="ctr"/>
          <a:lstStyle/>
          <a:p>
            <a:pPr marL="0" indent="0" algn="l">
              <a:buNone/>
            </a:pPr>
            <a:r>
              <a:rPr lang="en-US" sz="3000" b="1" dirty="0">
                <a:solidFill>
                  <a:srgbClr val="D4AF6A"/>
                </a:solidFill>
                <a:latin typeface="Cambria" pitchFamily="34" charset="0"/>
                <a:ea typeface="Cambria" pitchFamily="34" charset="-122"/>
                <a:cs typeface="Cambria" pitchFamily="34" charset="-120"/>
              </a:rPr>
              <a:t>Database Architecture</a:t>
            </a:r>
            <a:endParaRPr lang="en-US" sz="3000" dirty="0"/>
          </a:p>
        </p:txBody>
      </p:sp>
      <p:sp>
        <p:nvSpPr>
          <p:cNvPr id="4" name="Text 2"/>
          <p:cNvSpPr/>
          <p:nvPr/>
        </p:nvSpPr>
        <p:spPr>
          <a:xfrm>
            <a:off x="548640" y="749808"/>
            <a:ext cx="10789920" cy="365760"/>
          </a:xfrm>
          <a:prstGeom prst="rect">
            <a:avLst/>
          </a:prstGeom>
          <a:noFill/>
          <a:ln/>
        </p:spPr>
        <p:txBody>
          <a:bodyPr wrap="square" lIns="0" tIns="0" rIns="0" bIns="0" rtlCol="0" anchor="ctr"/>
          <a:lstStyle/>
          <a:p>
            <a:pPr marL="0" indent="0" algn="l">
              <a:buNone/>
            </a:pPr>
            <a:r>
              <a:rPr lang="en-US" sz="1300" i="1" dirty="0">
                <a:solidFill>
                  <a:srgbClr val="FFFFFF"/>
                </a:solidFill>
                <a:latin typeface="Calibri" pitchFamily="34" charset="0"/>
                <a:ea typeface="Calibri" pitchFamily="34" charset="-122"/>
                <a:cs typeface="Calibri" pitchFamily="34" charset="-120"/>
              </a:rPr>
              <a:t>A star schema built for fast, flexible dashboard filtering</a:t>
            </a:r>
            <a:endParaRPr lang="en-US" sz="1300" dirty="0"/>
          </a:p>
        </p:txBody>
      </p:sp>
      <p:sp>
        <p:nvSpPr>
          <p:cNvPr id="5" name="Shape 3"/>
          <p:cNvSpPr/>
          <p:nvPr/>
        </p:nvSpPr>
        <p:spPr>
          <a:xfrm>
            <a:off x="3520438" y="2496312"/>
            <a:ext cx="3154681" cy="1709928"/>
          </a:xfrm>
          <a:prstGeom prst="line">
            <a:avLst/>
          </a:prstGeom>
          <a:noFill/>
          <a:ln w="15875">
            <a:solidFill>
              <a:srgbClr val="B7B6B6"/>
            </a:solidFill>
            <a:prstDash val="dash"/>
          </a:ln>
        </p:spPr>
        <p:txBody>
          <a:bodyPr/>
          <a:lstStyle/>
          <a:p>
            <a:endParaRPr lang="en-US" dirty="0"/>
          </a:p>
        </p:txBody>
      </p:sp>
      <p:sp>
        <p:nvSpPr>
          <p:cNvPr id="6" name="Shape 4"/>
          <p:cNvSpPr/>
          <p:nvPr/>
        </p:nvSpPr>
        <p:spPr>
          <a:xfrm flipH="1">
            <a:off x="7863837" y="2862072"/>
            <a:ext cx="1037276" cy="790956"/>
          </a:xfrm>
          <a:prstGeom prst="line">
            <a:avLst/>
          </a:prstGeom>
          <a:noFill/>
          <a:ln w="15875">
            <a:solidFill>
              <a:srgbClr val="B7B6B6"/>
            </a:solidFill>
            <a:prstDash val="dash"/>
          </a:ln>
        </p:spPr>
      </p:sp>
      <p:sp>
        <p:nvSpPr>
          <p:cNvPr id="7" name="Shape 5"/>
          <p:cNvSpPr/>
          <p:nvPr/>
        </p:nvSpPr>
        <p:spPr>
          <a:xfrm flipV="1">
            <a:off x="3014663" y="4251960"/>
            <a:ext cx="2471738" cy="548640"/>
          </a:xfrm>
          <a:prstGeom prst="line">
            <a:avLst/>
          </a:prstGeom>
          <a:noFill/>
          <a:ln w="15875">
            <a:solidFill>
              <a:srgbClr val="B7B6B6"/>
            </a:solidFill>
            <a:prstDash val="dash"/>
          </a:ln>
        </p:spPr>
      </p:sp>
      <p:sp>
        <p:nvSpPr>
          <p:cNvPr id="8" name="Shape 6"/>
          <p:cNvSpPr/>
          <p:nvPr/>
        </p:nvSpPr>
        <p:spPr>
          <a:xfrm>
            <a:off x="6675120" y="4206240"/>
            <a:ext cx="3154680" cy="1120140"/>
          </a:xfrm>
          <a:prstGeom prst="line">
            <a:avLst/>
          </a:prstGeom>
          <a:noFill/>
          <a:ln w="15875">
            <a:solidFill>
              <a:srgbClr val="B7B6B6"/>
            </a:solidFill>
            <a:prstDash val="dash"/>
          </a:ln>
        </p:spPr>
      </p:sp>
      <p:sp>
        <p:nvSpPr>
          <p:cNvPr id="9" name="Shape 7"/>
          <p:cNvSpPr/>
          <p:nvPr/>
        </p:nvSpPr>
        <p:spPr>
          <a:xfrm>
            <a:off x="1188720" y="1691640"/>
            <a:ext cx="2286000" cy="1234440"/>
          </a:xfrm>
          <a:prstGeom prst="roundRect">
            <a:avLst>
              <a:gd name="adj" fmla="val 5926"/>
            </a:avLst>
          </a:prstGeom>
          <a:solidFill>
            <a:srgbClr val="B48C36"/>
          </a:solidFill>
          <a:ln/>
        </p:spPr>
      </p:sp>
      <p:sp>
        <p:nvSpPr>
          <p:cNvPr id="10" name="Text 8"/>
          <p:cNvSpPr/>
          <p:nvPr/>
        </p:nvSpPr>
        <p:spPr>
          <a:xfrm>
            <a:off x="1188720" y="1691640"/>
            <a:ext cx="22860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Dim_Location</a:t>
            </a:r>
            <a:endParaRPr lang="en-US" sz="1400" dirty="0"/>
          </a:p>
        </p:txBody>
      </p:sp>
      <p:sp>
        <p:nvSpPr>
          <p:cNvPr id="11" name="Text 9"/>
          <p:cNvSpPr/>
          <p:nvPr/>
        </p:nvSpPr>
        <p:spPr>
          <a:xfrm>
            <a:off x="1188720" y="2148840"/>
            <a:ext cx="2286000" cy="365760"/>
          </a:xfrm>
          <a:prstGeom prst="rect">
            <a:avLst/>
          </a:prstGeom>
          <a:noFill/>
          <a:ln/>
        </p:spPr>
        <p:txBody>
          <a:bodyPr wrap="square" lIns="0" tIns="0" rIns="0" bIns="0" rtlCol="0" anchor="ctr"/>
          <a:lstStyle/>
          <a:p>
            <a:pPr marL="0" indent="0" algn="ctr">
              <a:buNone/>
            </a:pPr>
            <a:r>
              <a:rPr lang="en-US" sz="1050" i="1" dirty="0">
                <a:solidFill>
                  <a:srgbClr val="3A2A08"/>
                </a:solidFill>
                <a:latin typeface="Calibri" pitchFamily="34" charset="0"/>
                <a:ea typeface="Calibri" pitchFamily="34" charset="-122"/>
                <a:cs typeface="Calibri" pitchFamily="34" charset="-120"/>
              </a:rPr>
              <a:t>1 : 1</a:t>
            </a:r>
            <a:endParaRPr lang="en-US" sz="1050" dirty="0"/>
          </a:p>
        </p:txBody>
      </p:sp>
      <p:sp>
        <p:nvSpPr>
          <p:cNvPr id="12" name="Text 10"/>
          <p:cNvSpPr/>
          <p:nvPr/>
        </p:nvSpPr>
        <p:spPr>
          <a:xfrm>
            <a:off x="1188720" y="2496312"/>
            <a:ext cx="2286000" cy="365760"/>
          </a:xfrm>
          <a:prstGeom prst="rect">
            <a:avLst/>
          </a:prstGeom>
          <a:noFill/>
          <a:ln/>
        </p:spPr>
        <p:txBody>
          <a:bodyPr wrap="square" lIns="0" tIns="0" rIns="0" bIns="0" rtlCol="0" anchor="ctr"/>
          <a:lstStyle/>
          <a:p>
            <a:pPr marL="0" indent="0" algn="ctr">
              <a:buNone/>
            </a:pPr>
            <a:r>
              <a:rPr lang="en-US" sz="950" dirty="0">
                <a:solidFill>
                  <a:srgbClr val="3A2A08"/>
                </a:solidFill>
                <a:latin typeface="Calibri" pitchFamily="34" charset="0"/>
                <a:ea typeface="Calibri" pitchFamily="34" charset="-122"/>
                <a:cs typeface="Calibri" pitchFamily="34" charset="-120"/>
              </a:rPr>
              <a:t>via Property_ID</a:t>
            </a:r>
            <a:endParaRPr lang="en-US" sz="950" dirty="0"/>
          </a:p>
        </p:txBody>
      </p:sp>
      <p:sp>
        <p:nvSpPr>
          <p:cNvPr id="13" name="Shape 11"/>
          <p:cNvSpPr/>
          <p:nvPr/>
        </p:nvSpPr>
        <p:spPr>
          <a:xfrm>
            <a:off x="8686800" y="1691640"/>
            <a:ext cx="2286000" cy="1234440"/>
          </a:xfrm>
          <a:prstGeom prst="roundRect">
            <a:avLst>
              <a:gd name="adj" fmla="val 5926"/>
            </a:avLst>
          </a:prstGeom>
          <a:solidFill>
            <a:srgbClr val="B48C36"/>
          </a:solidFill>
          <a:ln/>
        </p:spPr>
      </p:sp>
      <p:sp>
        <p:nvSpPr>
          <p:cNvPr id="14" name="Text 12"/>
          <p:cNvSpPr/>
          <p:nvPr/>
        </p:nvSpPr>
        <p:spPr>
          <a:xfrm>
            <a:off x="8686800" y="1691640"/>
            <a:ext cx="22860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Dim_Garage</a:t>
            </a:r>
            <a:endParaRPr lang="en-US" sz="1400" dirty="0"/>
          </a:p>
        </p:txBody>
      </p:sp>
      <p:sp>
        <p:nvSpPr>
          <p:cNvPr id="15" name="Text 13"/>
          <p:cNvSpPr/>
          <p:nvPr/>
        </p:nvSpPr>
        <p:spPr>
          <a:xfrm>
            <a:off x="8686800" y="2148840"/>
            <a:ext cx="2286000" cy="365760"/>
          </a:xfrm>
          <a:prstGeom prst="rect">
            <a:avLst/>
          </a:prstGeom>
          <a:noFill/>
          <a:ln/>
        </p:spPr>
        <p:txBody>
          <a:bodyPr wrap="square" lIns="0" tIns="0" rIns="0" bIns="0" rtlCol="0" anchor="ctr"/>
          <a:lstStyle/>
          <a:p>
            <a:pPr marL="0" indent="0" algn="ctr">
              <a:buNone/>
            </a:pPr>
            <a:r>
              <a:rPr lang="en-US" sz="1050" i="1" dirty="0">
                <a:solidFill>
                  <a:srgbClr val="3A2A08"/>
                </a:solidFill>
                <a:latin typeface="Calibri" pitchFamily="34" charset="0"/>
                <a:ea typeface="Calibri" pitchFamily="34" charset="-122"/>
                <a:cs typeface="Calibri" pitchFamily="34" charset="-120"/>
              </a:rPr>
              <a:t>1 : 1</a:t>
            </a:r>
            <a:endParaRPr lang="en-US" sz="1050" dirty="0"/>
          </a:p>
        </p:txBody>
      </p:sp>
      <p:sp>
        <p:nvSpPr>
          <p:cNvPr id="16" name="Text 14"/>
          <p:cNvSpPr/>
          <p:nvPr/>
        </p:nvSpPr>
        <p:spPr>
          <a:xfrm>
            <a:off x="8686800" y="2496312"/>
            <a:ext cx="2286000" cy="365760"/>
          </a:xfrm>
          <a:prstGeom prst="rect">
            <a:avLst/>
          </a:prstGeom>
          <a:noFill/>
          <a:ln/>
        </p:spPr>
        <p:txBody>
          <a:bodyPr wrap="square" lIns="0" tIns="0" rIns="0" bIns="0" rtlCol="0" anchor="ctr"/>
          <a:lstStyle/>
          <a:p>
            <a:pPr marL="0" indent="0" algn="ctr">
              <a:buNone/>
            </a:pPr>
            <a:r>
              <a:rPr lang="en-US" sz="950" dirty="0">
                <a:solidFill>
                  <a:srgbClr val="3A2A08"/>
                </a:solidFill>
                <a:latin typeface="Calibri" pitchFamily="34" charset="0"/>
                <a:ea typeface="Calibri" pitchFamily="34" charset="-122"/>
                <a:cs typeface="Calibri" pitchFamily="34" charset="-120"/>
              </a:rPr>
              <a:t>via Property_ID</a:t>
            </a:r>
            <a:endParaRPr lang="en-US" sz="950" dirty="0"/>
          </a:p>
        </p:txBody>
      </p:sp>
      <p:sp>
        <p:nvSpPr>
          <p:cNvPr id="17" name="Shape 15"/>
          <p:cNvSpPr/>
          <p:nvPr/>
        </p:nvSpPr>
        <p:spPr>
          <a:xfrm>
            <a:off x="1188720" y="4709160"/>
            <a:ext cx="2286000" cy="1234440"/>
          </a:xfrm>
          <a:prstGeom prst="roundRect">
            <a:avLst>
              <a:gd name="adj" fmla="val 5926"/>
            </a:avLst>
          </a:prstGeom>
          <a:solidFill>
            <a:srgbClr val="B48C36"/>
          </a:solidFill>
          <a:ln/>
        </p:spPr>
      </p:sp>
      <p:sp>
        <p:nvSpPr>
          <p:cNvPr id="18" name="Text 16"/>
          <p:cNvSpPr/>
          <p:nvPr/>
        </p:nvSpPr>
        <p:spPr>
          <a:xfrm>
            <a:off x="1188720" y="4709160"/>
            <a:ext cx="22860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Dim_Basement</a:t>
            </a:r>
            <a:endParaRPr lang="en-US" sz="1400" dirty="0"/>
          </a:p>
        </p:txBody>
      </p:sp>
      <p:sp>
        <p:nvSpPr>
          <p:cNvPr id="19" name="Text 17"/>
          <p:cNvSpPr/>
          <p:nvPr/>
        </p:nvSpPr>
        <p:spPr>
          <a:xfrm>
            <a:off x="1188720" y="5166360"/>
            <a:ext cx="2286000" cy="365760"/>
          </a:xfrm>
          <a:prstGeom prst="rect">
            <a:avLst/>
          </a:prstGeom>
          <a:noFill/>
          <a:ln/>
        </p:spPr>
        <p:txBody>
          <a:bodyPr wrap="square" lIns="0" tIns="0" rIns="0" bIns="0" rtlCol="0" anchor="ctr"/>
          <a:lstStyle/>
          <a:p>
            <a:pPr marL="0" indent="0" algn="ctr">
              <a:buNone/>
            </a:pPr>
            <a:r>
              <a:rPr lang="en-US" sz="1050" i="1" dirty="0">
                <a:solidFill>
                  <a:srgbClr val="3A2A08"/>
                </a:solidFill>
                <a:latin typeface="Calibri" pitchFamily="34" charset="0"/>
                <a:ea typeface="Calibri" pitchFamily="34" charset="-122"/>
                <a:cs typeface="Calibri" pitchFamily="34" charset="-120"/>
              </a:rPr>
              <a:t>1 : 1</a:t>
            </a:r>
            <a:endParaRPr lang="en-US" sz="1050" dirty="0"/>
          </a:p>
        </p:txBody>
      </p:sp>
      <p:sp>
        <p:nvSpPr>
          <p:cNvPr id="20" name="Text 18"/>
          <p:cNvSpPr/>
          <p:nvPr/>
        </p:nvSpPr>
        <p:spPr>
          <a:xfrm>
            <a:off x="1188720" y="5513832"/>
            <a:ext cx="2286000" cy="365760"/>
          </a:xfrm>
          <a:prstGeom prst="rect">
            <a:avLst/>
          </a:prstGeom>
          <a:noFill/>
          <a:ln/>
        </p:spPr>
        <p:txBody>
          <a:bodyPr wrap="square" lIns="0" tIns="0" rIns="0" bIns="0" rtlCol="0" anchor="ctr"/>
          <a:lstStyle/>
          <a:p>
            <a:pPr marL="0" indent="0" algn="ctr">
              <a:buNone/>
            </a:pPr>
            <a:r>
              <a:rPr lang="en-US" sz="950" dirty="0">
                <a:solidFill>
                  <a:srgbClr val="3A2A08"/>
                </a:solidFill>
                <a:latin typeface="Calibri" pitchFamily="34" charset="0"/>
                <a:ea typeface="Calibri" pitchFamily="34" charset="-122"/>
                <a:cs typeface="Calibri" pitchFamily="34" charset="-120"/>
              </a:rPr>
              <a:t>via Property_ID</a:t>
            </a:r>
            <a:endParaRPr lang="en-US" sz="950" dirty="0"/>
          </a:p>
        </p:txBody>
      </p:sp>
      <p:sp>
        <p:nvSpPr>
          <p:cNvPr id="21" name="Shape 19"/>
          <p:cNvSpPr/>
          <p:nvPr/>
        </p:nvSpPr>
        <p:spPr>
          <a:xfrm>
            <a:off x="8686800" y="4709160"/>
            <a:ext cx="2286000" cy="1234440"/>
          </a:xfrm>
          <a:prstGeom prst="roundRect">
            <a:avLst>
              <a:gd name="adj" fmla="val 5926"/>
            </a:avLst>
          </a:prstGeom>
          <a:solidFill>
            <a:srgbClr val="B48C36"/>
          </a:solidFill>
          <a:ln/>
        </p:spPr>
      </p:sp>
      <p:sp>
        <p:nvSpPr>
          <p:cNvPr id="22" name="Text 20"/>
          <p:cNvSpPr/>
          <p:nvPr/>
        </p:nvSpPr>
        <p:spPr>
          <a:xfrm>
            <a:off x="8686800" y="4709160"/>
            <a:ext cx="22860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Dim_Quality</a:t>
            </a:r>
            <a:endParaRPr lang="en-US" sz="1400" dirty="0"/>
          </a:p>
        </p:txBody>
      </p:sp>
      <p:sp>
        <p:nvSpPr>
          <p:cNvPr id="23" name="Text 21"/>
          <p:cNvSpPr/>
          <p:nvPr/>
        </p:nvSpPr>
        <p:spPr>
          <a:xfrm>
            <a:off x="8686800" y="5166360"/>
            <a:ext cx="2286000" cy="365760"/>
          </a:xfrm>
          <a:prstGeom prst="rect">
            <a:avLst/>
          </a:prstGeom>
          <a:noFill/>
          <a:ln/>
        </p:spPr>
        <p:txBody>
          <a:bodyPr wrap="square" lIns="0" tIns="0" rIns="0" bIns="0" rtlCol="0" anchor="ctr"/>
          <a:lstStyle/>
          <a:p>
            <a:pPr marL="0" indent="0" algn="ctr">
              <a:buNone/>
            </a:pPr>
            <a:r>
              <a:rPr lang="en-US" sz="1050" i="1" dirty="0">
                <a:solidFill>
                  <a:srgbClr val="3A2A08"/>
                </a:solidFill>
                <a:latin typeface="Calibri" pitchFamily="34" charset="0"/>
                <a:ea typeface="Calibri" pitchFamily="34" charset="-122"/>
                <a:cs typeface="Calibri" pitchFamily="34" charset="-120"/>
              </a:rPr>
              <a:t>1 : 1</a:t>
            </a:r>
            <a:endParaRPr lang="en-US" sz="1050" dirty="0"/>
          </a:p>
        </p:txBody>
      </p:sp>
      <p:sp>
        <p:nvSpPr>
          <p:cNvPr id="24" name="Text 22"/>
          <p:cNvSpPr/>
          <p:nvPr/>
        </p:nvSpPr>
        <p:spPr>
          <a:xfrm>
            <a:off x="8686800" y="5513832"/>
            <a:ext cx="2286000" cy="365760"/>
          </a:xfrm>
          <a:prstGeom prst="rect">
            <a:avLst/>
          </a:prstGeom>
          <a:noFill/>
          <a:ln/>
        </p:spPr>
        <p:txBody>
          <a:bodyPr wrap="square" lIns="0" tIns="0" rIns="0" bIns="0" rtlCol="0" anchor="ctr"/>
          <a:lstStyle/>
          <a:p>
            <a:pPr marL="0" indent="0" algn="ctr">
              <a:buNone/>
            </a:pPr>
            <a:r>
              <a:rPr lang="en-US" sz="950" dirty="0">
                <a:solidFill>
                  <a:srgbClr val="3A2A08"/>
                </a:solidFill>
                <a:latin typeface="Calibri" pitchFamily="34" charset="0"/>
                <a:ea typeface="Calibri" pitchFamily="34" charset="-122"/>
                <a:cs typeface="Calibri" pitchFamily="34" charset="-120"/>
              </a:rPr>
              <a:t>via Property_ID</a:t>
            </a:r>
            <a:endParaRPr lang="en-US" sz="950" dirty="0"/>
          </a:p>
        </p:txBody>
      </p:sp>
      <p:sp>
        <p:nvSpPr>
          <p:cNvPr id="25" name="Shape 23"/>
          <p:cNvSpPr/>
          <p:nvPr/>
        </p:nvSpPr>
        <p:spPr>
          <a:xfrm>
            <a:off x="5486400" y="3520440"/>
            <a:ext cx="2377440" cy="1371600"/>
          </a:xfrm>
          <a:prstGeom prst="roundRect">
            <a:avLst>
              <a:gd name="adj" fmla="val 6000"/>
            </a:avLst>
          </a:prstGeom>
          <a:solidFill>
            <a:srgbClr val="0D1C78"/>
          </a:solidFill>
          <a:ln/>
          <a:effectLst>
            <a:outerShdw blurRad="101600" dist="38100" dir="5400000" algn="bl" rotWithShape="0">
              <a:srgbClr val="000000">
                <a:alpha val="25000"/>
              </a:srgbClr>
            </a:outerShdw>
          </a:effectLst>
        </p:spPr>
      </p:sp>
      <p:sp>
        <p:nvSpPr>
          <p:cNvPr id="26" name="Text 24"/>
          <p:cNvSpPr/>
          <p:nvPr/>
        </p:nvSpPr>
        <p:spPr>
          <a:xfrm>
            <a:off x="5486400" y="3657600"/>
            <a:ext cx="2377440" cy="457200"/>
          </a:xfrm>
          <a:prstGeom prst="rect">
            <a:avLst/>
          </a:prstGeom>
          <a:noFill/>
          <a:ln/>
        </p:spPr>
        <p:txBody>
          <a:bodyPr wrap="square" lIns="0" tIns="0" rIns="0" bIns="0" rtlCol="0" anchor="ctr"/>
          <a:lstStyle/>
          <a:p>
            <a:pPr marL="0" indent="0" algn="ctr">
              <a:buNone/>
            </a:pPr>
            <a:r>
              <a:rPr lang="en-US" sz="1600" b="1" dirty="0">
                <a:solidFill>
                  <a:srgbClr val="D4AF6A"/>
                </a:solidFill>
                <a:latin typeface="Cambria" pitchFamily="34" charset="0"/>
                <a:ea typeface="Cambria" pitchFamily="34" charset="-122"/>
                <a:cs typeface="Cambria" pitchFamily="34" charset="-120"/>
              </a:rPr>
              <a:t>Fact_Properties</a:t>
            </a:r>
            <a:endParaRPr lang="en-US" sz="1600" dirty="0"/>
          </a:p>
        </p:txBody>
      </p:sp>
      <p:sp>
        <p:nvSpPr>
          <p:cNvPr id="27" name="Text 25"/>
          <p:cNvSpPr/>
          <p:nvPr/>
        </p:nvSpPr>
        <p:spPr>
          <a:xfrm>
            <a:off x="5486400" y="4087368"/>
            <a:ext cx="2377440" cy="731520"/>
          </a:xfrm>
          <a:prstGeom prst="rect">
            <a:avLst/>
          </a:prstGeom>
          <a:noFill/>
          <a:ln/>
        </p:spPr>
        <p:txBody>
          <a:bodyPr wrap="square" lIns="0" tIns="0" rIns="0" bIns="0" rtlCol="0" anchor="ctr"/>
          <a:lstStyle/>
          <a:p>
            <a:pPr marL="0" indent="0" algn="ctr">
              <a:lnSpc>
                <a:spcPct val="120000"/>
              </a:lnSpc>
              <a:buNone/>
            </a:pPr>
            <a:r>
              <a:rPr lang="en-US" sz="1000" dirty="0">
                <a:solidFill>
                  <a:srgbClr val="FFFFFF"/>
                </a:solidFill>
                <a:latin typeface="Calibri" pitchFamily="34" charset="0"/>
                <a:ea typeface="Calibri" pitchFamily="34" charset="-122"/>
                <a:cs typeface="Calibri" pitchFamily="34" charset="-120"/>
              </a:rPr>
              <a:t>SalePrice • TotalSF • HouseAge</a:t>
            </a:r>
            <a:endParaRPr lang="en-US" sz="1000" dirty="0"/>
          </a:p>
          <a:p>
            <a:pPr marL="0" indent="0" algn="ctr">
              <a:lnSpc>
                <a:spcPct val="120000"/>
              </a:lnSpc>
              <a:buNone/>
            </a:pPr>
            <a:r>
              <a:rPr lang="en-US" sz="1000" dirty="0">
                <a:solidFill>
                  <a:srgbClr val="FFFFFF"/>
                </a:solidFill>
                <a:latin typeface="Calibri" pitchFamily="34" charset="0"/>
                <a:ea typeface="Calibri" pitchFamily="34" charset="-122"/>
                <a:cs typeface="Calibri" pitchFamily="34" charset="-120"/>
              </a:rPr>
              <a:t>YearBuilt • YrSold • LotArea</a:t>
            </a:r>
            <a:endParaRPr lang="en-US" sz="1000" dirty="0"/>
          </a:p>
        </p:txBody>
      </p:sp>
      <p:sp>
        <p:nvSpPr>
          <p:cNvPr id="28" name="Text 26"/>
          <p:cNvSpPr/>
          <p:nvPr/>
        </p:nvSpPr>
        <p:spPr>
          <a:xfrm>
            <a:off x="457200" y="6547104"/>
            <a:ext cx="5486400"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SmartHome Pricing Analytics</a:t>
            </a:r>
            <a:endParaRPr lang="en-US" sz="900" dirty="0"/>
          </a:p>
        </p:txBody>
      </p:sp>
      <p:sp>
        <p:nvSpPr>
          <p:cNvPr id="29" name="Text 27"/>
          <p:cNvSpPr/>
          <p:nvPr/>
        </p:nvSpPr>
        <p:spPr>
          <a:xfrm>
            <a:off x="11277295" y="6547104"/>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EDED"/>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34440"/>
          </a:xfrm>
          <a:prstGeom prst="rect">
            <a:avLst/>
          </a:prstGeom>
          <a:solidFill>
            <a:srgbClr val="0D1C78"/>
          </a:solidFill>
          <a:ln/>
        </p:spPr>
      </p:sp>
      <p:sp>
        <p:nvSpPr>
          <p:cNvPr id="3" name="Text 1"/>
          <p:cNvSpPr/>
          <p:nvPr/>
        </p:nvSpPr>
        <p:spPr>
          <a:xfrm>
            <a:off x="548640" y="201168"/>
            <a:ext cx="10515600" cy="566928"/>
          </a:xfrm>
          <a:prstGeom prst="rect">
            <a:avLst/>
          </a:prstGeom>
          <a:noFill/>
          <a:ln/>
        </p:spPr>
        <p:txBody>
          <a:bodyPr wrap="square" lIns="0" tIns="0" rIns="0" bIns="0" rtlCol="0" anchor="ctr"/>
          <a:lstStyle/>
          <a:p>
            <a:pPr marL="0" indent="0" algn="l">
              <a:buNone/>
            </a:pPr>
            <a:r>
              <a:rPr lang="en-US" sz="3000" b="1" dirty="0">
                <a:solidFill>
                  <a:srgbClr val="D4AF6A"/>
                </a:solidFill>
                <a:latin typeface="Cambria" pitchFamily="34" charset="0"/>
                <a:ea typeface="Cambria" pitchFamily="34" charset="-122"/>
                <a:cs typeface="Cambria" pitchFamily="34" charset="-120"/>
              </a:rPr>
              <a:t>Interactive Dashboard</a:t>
            </a:r>
            <a:endParaRPr lang="en-US" sz="3000" dirty="0"/>
          </a:p>
        </p:txBody>
      </p:sp>
      <p:sp>
        <p:nvSpPr>
          <p:cNvPr id="4" name="Text 2"/>
          <p:cNvSpPr/>
          <p:nvPr/>
        </p:nvSpPr>
        <p:spPr>
          <a:xfrm>
            <a:off x="548640" y="749808"/>
            <a:ext cx="10789920" cy="365760"/>
          </a:xfrm>
          <a:prstGeom prst="rect">
            <a:avLst/>
          </a:prstGeom>
          <a:noFill/>
          <a:ln/>
        </p:spPr>
        <p:txBody>
          <a:bodyPr wrap="square" lIns="0" tIns="0" rIns="0" bIns="0" rtlCol="0" anchor="ctr"/>
          <a:lstStyle/>
          <a:p>
            <a:pPr marL="0" indent="0" algn="l">
              <a:buNone/>
            </a:pPr>
            <a:r>
              <a:rPr lang="en-US" sz="1300" i="1" dirty="0">
                <a:solidFill>
                  <a:srgbClr val="FFFFFF"/>
                </a:solidFill>
                <a:latin typeface="Calibri" pitchFamily="34" charset="0"/>
                <a:ea typeface="Calibri" pitchFamily="34" charset="-122"/>
                <a:cs typeface="Calibri" pitchFamily="34" charset="-120"/>
              </a:rPr>
              <a:t>A 5-page Power BI experience — Home, Overview, Neighborhood, Features, Predictive Insights</a:t>
            </a:r>
            <a:endParaRPr lang="en-US" sz="1300" dirty="0"/>
          </a:p>
        </p:txBody>
      </p:sp>
      <p:sp>
        <p:nvSpPr>
          <p:cNvPr id="5" name="Shape 3"/>
          <p:cNvSpPr/>
          <p:nvPr/>
        </p:nvSpPr>
        <p:spPr>
          <a:xfrm>
            <a:off x="502920" y="1527048"/>
            <a:ext cx="5440680" cy="2304288"/>
          </a:xfrm>
          <a:prstGeom prst="roundRect">
            <a:avLst>
              <a:gd name="adj" fmla="val 2381"/>
            </a:avLst>
          </a:prstGeom>
          <a:solidFill>
            <a:srgbClr val="FFFFFF"/>
          </a:solidFill>
          <a:ln w="9525">
            <a:solidFill>
              <a:srgbClr val="DDDCDC"/>
            </a:solidFill>
            <a:prstDash val="solid"/>
          </a:ln>
        </p:spPr>
      </p:sp>
      <p:pic>
        <p:nvPicPr>
          <p:cNvPr id="6" name="Image 0" descr="/mnt/user-data/uploads/1787928544788_Dashboard_1.png"/>
          <p:cNvPicPr>
            <a:picLocks noChangeAspect="1"/>
          </p:cNvPicPr>
          <p:nvPr/>
        </p:nvPicPr>
        <p:blipFill>
          <a:blip r:embed="rId3"/>
          <a:srcRect/>
          <a:stretch/>
        </p:blipFill>
        <p:spPr>
          <a:xfrm>
            <a:off x="548640" y="1572768"/>
            <a:ext cx="5349240" cy="1920240"/>
          </a:xfrm>
          <a:prstGeom prst="rect">
            <a:avLst/>
          </a:prstGeom>
        </p:spPr>
      </p:pic>
      <p:sp>
        <p:nvSpPr>
          <p:cNvPr id="7" name="Text 4"/>
          <p:cNvSpPr/>
          <p:nvPr/>
        </p:nvSpPr>
        <p:spPr>
          <a:xfrm>
            <a:off x="548640" y="3511296"/>
            <a:ext cx="5349240" cy="256032"/>
          </a:xfrm>
          <a:prstGeom prst="rect">
            <a:avLst/>
          </a:prstGeom>
          <a:noFill/>
          <a:ln/>
        </p:spPr>
        <p:txBody>
          <a:bodyPr wrap="square" lIns="0" tIns="0" rIns="0" bIns="0" rtlCol="0" anchor="ctr"/>
          <a:lstStyle/>
          <a:p>
            <a:pPr marL="0" indent="0" algn="ctr">
              <a:buNone/>
            </a:pPr>
            <a:r>
              <a:rPr lang="en-US" sz="1050" b="1" dirty="0">
                <a:solidFill>
                  <a:srgbClr val="0D1C78"/>
                </a:solidFill>
                <a:latin typeface="Calibri" pitchFamily="34" charset="0"/>
                <a:ea typeface="Calibri" pitchFamily="34" charset="-122"/>
                <a:cs typeface="Calibri" pitchFamily="34" charset="-120"/>
              </a:rPr>
              <a:t>Overview</a:t>
            </a:r>
            <a:endParaRPr lang="en-US" sz="1050" dirty="0"/>
          </a:p>
        </p:txBody>
      </p:sp>
      <p:sp>
        <p:nvSpPr>
          <p:cNvPr id="8" name="Shape 5"/>
          <p:cNvSpPr/>
          <p:nvPr/>
        </p:nvSpPr>
        <p:spPr>
          <a:xfrm>
            <a:off x="6172200" y="1527048"/>
            <a:ext cx="5440680" cy="2304288"/>
          </a:xfrm>
          <a:prstGeom prst="roundRect">
            <a:avLst>
              <a:gd name="adj" fmla="val 2381"/>
            </a:avLst>
          </a:prstGeom>
          <a:solidFill>
            <a:srgbClr val="FFFFFF"/>
          </a:solidFill>
          <a:ln w="9525">
            <a:solidFill>
              <a:srgbClr val="DDDCDC"/>
            </a:solidFill>
            <a:prstDash val="solid"/>
          </a:ln>
        </p:spPr>
      </p:sp>
      <p:pic>
        <p:nvPicPr>
          <p:cNvPr id="9" name="Image 1" descr="1787928544790_Dashboard_2_c2.png"/>
          <p:cNvPicPr>
            <a:picLocks noChangeAspect="1"/>
          </p:cNvPicPr>
          <p:nvPr/>
        </p:nvPicPr>
        <p:blipFill>
          <a:blip r:embed="rId4"/>
          <a:srcRect/>
          <a:stretch/>
        </p:blipFill>
        <p:spPr>
          <a:xfrm>
            <a:off x="6217920" y="1572768"/>
            <a:ext cx="5349240" cy="1920240"/>
          </a:xfrm>
          <a:prstGeom prst="rect">
            <a:avLst/>
          </a:prstGeom>
        </p:spPr>
      </p:pic>
      <p:sp>
        <p:nvSpPr>
          <p:cNvPr id="10" name="Text 6"/>
          <p:cNvSpPr/>
          <p:nvPr/>
        </p:nvSpPr>
        <p:spPr>
          <a:xfrm>
            <a:off x="6217920" y="3511296"/>
            <a:ext cx="5349240" cy="256032"/>
          </a:xfrm>
          <a:prstGeom prst="rect">
            <a:avLst/>
          </a:prstGeom>
          <a:noFill/>
          <a:ln/>
        </p:spPr>
        <p:txBody>
          <a:bodyPr wrap="square" lIns="0" tIns="0" rIns="0" bIns="0" rtlCol="0" anchor="ctr"/>
          <a:lstStyle/>
          <a:p>
            <a:pPr marL="0" indent="0" algn="ctr">
              <a:buNone/>
            </a:pPr>
            <a:r>
              <a:rPr lang="en-US" sz="1050" b="1" dirty="0">
                <a:solidFill>
                  <a:srgbClr val="0D1C78"/>
                </a:solidFill>
                <a:latin typeface="Calibri" pitchFamily="34" charset="0"/>
                <a:ea typeface="Calibri" pitchFamily="34" charset="-122"/>
                <a:cs typeface="Calibri" pitchFamily="34" charset="-120"/>
              </a:rPr>
              <a:t>Neighborhood &amp; Location</a:t>
            </a:r>
            <a:endParaRPr lang="en-US" sz="1050" dirty="0"/>
          </a:p>
        </p:txBody>
      </p:sp>
      <p:sp>
        <p:nvSpPr>
          <p:cNvPr id="11" name="Shape 7"/>
          <p:cNvSpPr/>
          <p:nvPr/>
        </p:nvSpPr>
        <p:spPr>
          <a:xfrm>
            <a:off x="502920" y="3995928"/>
            <a:ext cx="5440680" cy="2304288"/>
          </a:xfrm>
          <a:prstGeom prst="roundRect">
            <a:avLst>
              <a:gd name="adj" fmla="val 2381"/>
            </a:avLst>
          </a:prstGeom>
          <a:solidFill>
            <a:srgbClr val="FFFFFF"/>
          </a:solidFill>
          <a:ln w="9525">
            <a:solidFill>
              <a:srgbClr val="DDDCDC"/>
            </a:solidFill>
            <a:prstDash val="solid"/>
          </a:ln>
        </p:spPr>
      </p:sp>
      <p:pic>
        <p:nvPicPr>
          <p:cNvPr id="12" name="Image 2" descr="1787928544791_Dashboard_3_c2.png"/>
          <p:cNvPicPr>
            <a:picLocks noChangeAspect="1"/>
          </p:cNvPicPr>
          <p:nvPr/>
        </p:nvPicPr>
        <p:blipFill>
          <a:blip r:embed="rId5"/>
          <a:srcRect/>
          <a:stretch/>
        </p:blipFill>
        <p:spPr>
          <a:xfrm>
            <a:off x="548640" y="4041648"/>
            <a:ext cx="5349240" cy="1920240"/>
          </a:xfrm>
          <a:prstGeom prst="rect">
            <a:avLst/>
          </a:prstGeom>
        </p:spPr>
      </p:pic>
      <p:sp>
        <p:nvSpPr>
          <p:cNvPr id="13" name="Text 8"/>
          <p:cNvSpPr/>
          <p:nvPr/>
        </p:nvSpPr>
        <p:spPr>
          <a:xfrm>
            <a:off x="548640" y="5980176"/>
            <a:ext cx="5349240" cy="256032"/>
          </a:xfrm>
          <a:prstGeom prst="rect">
            <a:avLst/>
          </a:prstGeom>
          <a:noFill/>
          <a:ln/>
        </p:spPr>
        <p:txBody>
          <a:bodyPr wrap="square" lIns="0" tIns="0" rIns="0" bIns="0" rtlCol="0" anchor="ctr"/>
          <a:lstStyle/>
          <a:p>
            <a:pPr marL="0" indent="0" algn="ctr">
              <a:buNone/>
            </a:pPr>
            <a:r>
              <a:rPr lang="en-US" sz="1050" b="1" dirty="0">
                <a:solidFill>
                  <a:srgbClr val="0D1C78"/>
                </a:solidFill>
                <a:latin typeface="Calibri" pitchFamily="34" charset="0"/>
                <a:ea typeface="Calibri" pitchFamily="34" charset="-122"/>
                <a:cs typeface="Calibri" pitchFamily="34" charset="-120"/>
              </a:rPr>
              <a:t>Features &amp; Quality</a:t>
            </a:r>
            <a:endParaRPr lang="en-US" sz="1050" dirty="0"/>
          </a:p>
        </p:txBody>
      </p:sp>
      <p:sp>
        <p:nvSpPr>
          <p:cNvPr id="14" name="Shape 9"/>
          <p:cNvSpPr/>
          <p:nvPr/>
        </p:nvSpPr>
        <p:spPr>
          <a:xfrm>
            <a:off x="6172200" y="3995928"/>
            <a:ext cx="5440680" cy="2304288"/>
          </a:xfrm>
          <a:prstGeom prst="roundRect">
            <a:avLst>
              <a:gd name="adj" fmla="val 2381"/>
            </a:avLst>
          </a:prstGeom>
          <a:solidFill>
            <a:srgbClr val="FFFFFF"/>
          </a:solidFill>
          <a:ln w="9525">
            <a:solidFill>
              <a:srgbClr val="DDDCDC"/>
            </a:solidFill>
            <a:prstDash val="solid"/>
          </a:ln>
        </p:spPr>
      </p:sp>
      <p:pic>
        <p:nvPicPr>
          <p:cNvPr id="15" name="Image 3" descr="1787928544786_Dashboard_4_c2.png"/>
          <p:cNvPicPr>
            <a:picLocks noChangeAspect="1"/>
          </p:cNvPicPr>
          <p:nvPr/>
        </p:nvPicPr>
        <p:blipFill>
          <a:blip r:embed="rId6"/>
          <a:srcRect/>
          <a:stretch/>
        </p:blipFill>
        <p:spPr>
          <a:xfrm>
            <a:off x="6217920" y="4041648"/>
            <a:ext cx="5349240" cy="1920240"/>
          </a:xfrm>
          <a:prstGeom prst="rect">
            <a:avLst/>
          </a:prstGeom>
        </p:spPr>
      </p:pic>
      <p:sp>
        <p:nvSpPr>
          <p:cNvPr id="16" name="Text 10"/>
          <p:cNvSpPr/>
          <p:nvPr/>
        </p:nvSpPr>
        <p:spPr>
          <a:xfrm>
            <a:off x="6217920" y="5980176"/>
            <a:ext cx="5349240" cy="256032"/>
          </a:xfrm>
          <a:prstGeom prst="rect">
            <a:avLst/>
          </a:prstGeom>
          <a:noFill/>
          <a:ln/>
        </p:spPr>
        <p:txBody>
          <a:bodyPr wrap="square" lIns="0" tIns="0" rIns="0" bIns="0" rtlCol="0" anchor="ctr"/>
          <a:lstStyle/>
          <a:p>
            <a:pPr marL="0" indent="0" algn="ctr">
              <a:buNone/>
            </a:pPr>
            <a:r>
              <a:rPr lang="en-US" sz="1050" b="1" dirty="0">
                <a:solidFill>
                  <a:srgbClr val="0D1C78"/>
                </a:solidFill>
                <a:latin typeface="Calibri" pitchFamily="34" charset="0"/>
                <a:ea typeface="Calibri" pitchFamily="34" charset="-122"/>
                <a:cs typeface="Calibri" pitchFamily="34" charset="-120"/>
              </a:rPr>
              <a:t>Predictive Insights</a:t>
            </a:r>
            <a:endParaRPr lang="en-US" sz="1050" dirty="0"/>
          </a:p>
        </p:txBody>
      </p:sp>
      <p:sp>
        <p:nvSpPr>
          <p:cNvPr id="17" name="Text 11"/>
          <p:cNvSpPr/>
          <p:nvPr/>
        </p:nvSpPr>
        <p:spPr>
          <a:xfrm>
            <a:off x="457200" y="6547104"/>
            <a:ext cx="5486400"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SmartHome Pricing Analytics</a:t>
            </a:r>
            <a:endParaRPr lang="en-US" sz="900" dirty="0"/>
          </a:p>
        </p:txBody>
      </p:sp>
      <p:sp>
        <p:nvSpPr>
          <p:cNvPr id="18" name="Text 12"/>
          <p:cNvSpPr/>
          <p:nvPr/>
        </p:nvSpPr>
        <p:spPr>
          <a:xfrm>
            <a:off x="11277295" y="6547104"/>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50931"/>
        </a:solidFill>
        <a:effectLst/>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0D1C78"/>
          </a:solidFill>
          <a:ln/>
        </p:spPr>
      </p:sp>
      <p:sp>
        <p:nvSpPr>
          <p:cNvPr id="3" name="Shape 1"/>
          <p:cNvSpPr/>
          <p:nvPr/>
        </p:nvSpPr>
        <p:spPr>
          <a:xfrm>
            <a:off x="10241280" y="4389120"/>
            <a:ext cx="3840480" cy="3840480"/>
          </a:xfrm>
          <a:prstGeom prst="ellipse">
            <a:avLst/>
          </a:prstGeom>
          <a:solidFill>
            <a:srgbClr val="0D1C78"/>
          </a:solidFill>
          <a:ln/>
        </p:spPr>
      </p:sp>
      <p:sp>
        <p:nvSpPr>
          <p:cNvPr id="4" name="Text 2"/>
          <p:cNvSpPr/>
          <p:nvPr/>
        </p:nvSpPr>
        <p:spPr>
          <a:xfrm>
            <a:off x="914400" y="822960"/>
            <a:ext cx="10360152" cy="640080"/>
          </a:xfrm>
          <a:prstGeom prst="rect">
            <a:avLst/>
          </a:prstGeom>
          <a:noFill/>
          <a:ln/>
        </p:spPr>
        <p:txBody>
          <a:bodyPr wrap="square" lIns="0" tIns="0" rIns="0" bIns="0" rtlCol="0" anchor="ctr"/>
          <a:lstStyle/>
          <a:p>
            <a:pPr marL="0" indent="0" algn="ctr">
              <a:buNone/>
            </a:pPr>
            <a:r>
              <a:rPr lang="en-US" sz="3200" b="1" dirty="0">
                <a:solidFill>
                  <a:srgbClr val="D4AF6A"/>
                </a:solidFill>
                <a:latin typeface="Cambria" pitchFamily="34" charset="0"/>
                <a:ea typeface="Cambria" pitchFamily="34" charset="-122"/>
                <a:cs typeface="Cambria" pitchFamily="34" charset="-120"/>
              </a:rPr>
              <a:t>Project Value</a:t>
            </a:r>
            <a:endParaRPr lang="en-US" sz="3200" dirty="0"/>
          </a:p>
        </p:txBody>
      </p:sp>
      <p:sp>
        <p:nvSpPr>
          <p:cNvPr id="5" name="Shape 3"/>
          <p:cNvSpPr/>
          <p:nvPr/>
        </p:nvSpPr>
        <p:spPr>
          <a:xfrm>
            <a:off x="632308" y="1874520"/>
            <a:ext cx="3429000" cy="2651760"/>
          </a:xfrm>
          <a:prstGeom prst="roundRect">
            <a:avLst>
              <a:gd name="adj" fmla="val 3103"/>
            </a:avLst>
          </a:prstGeom>
          <a:solidFill>
            <a:srgbClr val="0D1C78"/>
          </a:solidFill>
          <a:ln/>
        </p:spPr>
      </p:sp>
      <p:sp>
        <p:nvSpPr>
          <p:cNvPr id="6" name="Shape 4"/>
          <p:cNvSpPr/>
          <p:nvPr/>
        </p:nvSpPr>
        <p:spPr>
          <a:xfrm>
            <a:off x="2003908" y="2194560"/>
            <a:ext cx="685800" cy="685800"/>
          </a:xfrm>
          <a:prstGeom prst="ellipse">
            <a:avLst/>
          </a:prstGeom>
          <a:solidFill>
            <a:srgbClr val="B48C36"/>
          </a:solidFill>
          <a:ln/>
        </p:spPr>
      </p:sp>
      <p:pic>
        <p:nvPicPr>
          <p:cNvPr id="7" name="Image 0" descr="icon_check_navy.png"/>
          <p:cNvPicPr>
            <a:picLocks noChangeAspect="1"/>
          </p:cNvPicPr>
          <p:nvPr/>
        </p:nvPicPr>
        <p:blipFill>
          <a:blip r:embed="rId3"/>
          <a:stretch>
            <a:fillRect/>
          </a:stretch>
        </p:blipFill>
        <p:spPr>
          <a:xfrm>
            <a:off x="2150212" y="2340864"/>
            <a:ext cx="393192" cy="393192"/>
          </a:xfrm>
          <a:prstGeom prst="rect">
            <a:avLst/>
          </a:prstGeom>
        </p:spPr>
      </p:pic>
      <p:sp>
        <p:nvSpPr>
          <p:cNvPr id="8" name="Text 5"/>
          <p:cNvSpPr/>
          <p:nvPr/>
        </p:nvSpPr>
        <p:spPr>
          <a:xfrm>
            <a:off x="860908" y="3108960"/>
            <a:ext cx="2971800" cy="411480"/>
          </a:xfrm>
          <a:prstGeom prst="rect">
            <a:avLst/>
          </a:prstGeom>
          <a:noFill/>
          <a:ln/>
        </p:spPr>
        <p:txBody>
          <a:bodyPr wrap="square" lIns="0" tIns="0" rIns="0" bIns="0" rtlCol="0" anchor="ctr"/>
          <a:lstStyle/>
          <a:p>
            <a:pPr marL="0" indent="0" algn="ctr">
              <a:buNone/>
            </a:pPr>
            <a:r>
              <a:rPr lang="en-US" sz="1500" b="1" dirty="0">
                <a:solidFill>
                  <a:srgbClr val="D4AF6A"/>
                </a:solidFill>
                <a:latin typeface="Cambria" pitchFamily="34" charset="0"/>
                <a:ea typeface="Cambria" pitchFamily="34" charset="-122"/>
                <a:cs typeface="Cambria" pitchFamily="34" charset="-120"/>
              </a:rPr>
              <a:t>Full lifecycle</a:t>
            </a:r>
            <a:endParaRPr lang="en-US" sz="1500" dirty="0"/>
          </a:p>
        </p:txBody>
      </p:sp>
      <p:sp>
        <p:nvSpPr>
          <p:cNvPr id="9" name="Text 6"/>
          <p:cNvSpPr/>
          <p:nvPr/>
        </p:nvSpPr>
        <p:spPr>
          <a:xfrm>
            <a:off x="906628" y="3566160"/>
            <a:ext cx="2880360" cy="868680"/>
          </a:xfrm>
          <a:prstGeom prst="rect">
            <a:avLst/>
          </a:prstGeom>
          <a:noFill/>
          <a:ln/>
        </p:spPr>
        <p:txBody>
          <a:bodyPr wrap="square" lIns="0" tIns="0" rIns="0" bIns="0" rtlCol="0" anchor="t"/>
          <a:lstStyle/>
          <a:p>
            <a:pPr marL="0" indent="0" algn="ctr">
              <a:lnSpc>
                <a:spcPct val="125000"/>
              </a:lnSpc>
              <a:buNone/>
            </a:pPr>
            <a:r>
              <a:rPr lang="en-US" sz="1100" dirty="0">
                <a:solidFill>
                  <a:srgbClr val="FFFFFF"/>
                </a:solidFill>
                <a:latin typeface="Calibri" pitchFamily="34" charset="0"/>
                <a:ea typeface="Calibri" pitchFamily="34" charset="-122"/>
                <a:cs typeface="Calibri" pitchFamily="34" charset="-120"/>
              </a:rPr>
              <a:t>Demonstrates the complete data analytics pipeline, end to end</a:t>
            </a:r>
            <a:endParaRPr lang="en-US" sz="1100" dirty="0"/>
          </a:p>
        </p:txBody>
      </p:sp>
      <p:sp>
        <p:nvSpPr>
          <p:cNvPr id="10" name="Shape 7"/>
          <p:cNvSpPr/>
          <p:nvPr/>
        </p:nvSpPr>
        <p:spPr>
          <a:xfrm>
            <a:off x="4381348" y="1874520"/>
            <a:ext cx="3429000" cy="2651760"/>
          </a:xfrm>
          <a:prstGeom prst="roundRect">
            <a:avLst>
              <a:gd name="adj" fmla="val 3103"/>
            </a:avLst>
          </a:prstGeom>
          <a:solidFill>
            <a:srgbClr val="0D1C78"/>
          </a:solidFill>
          <a:ln/>
        </p:spPr>
      </p:sp>
      <p:sp>
        <p:nvSpPr>
          <p:cNvPr id="11" name="Shape 8"/>
          <p:cNvSpPr/>
          <p:nvPr/>
        </p:nvSpPr>
        <p:spPr>
          <a:xfrm>
            <a:off x="5752948" y="2194560"/>
            <a:ext cx="685800" cy="685800"/>
          </a:xfrm>
          <a:prstGeom prst="ellipse">
            <a:avLst/>
          </a:prstGeom>
          <a:solidFill>
            <a:srgbClr val="B48C36"/>
          </a:solidFill>
          <a:ln/>
        </p:spPr>
      </p:sp>
      <p:pic>
        <p:nvPicPr>
          <p:cNvPr id="12" name="Image 1" descr="icon_cpu_navy.png"/>
          <p:cNvPicPr>
            <a:picLocks noChangeAspect="1"/>
          </p:cNvPicPr>
          <p:nvPr/>
        </p:nvPicPr>
        <p:blipFill>
          <a:blip r:embed="rId4"/>
          <a:stretch>
            <a:fillRect/>
          </a:stretch>
        </p:blipFill>
        <p:spPr>
          <a:xfrm>
            <a:off x="5899252" y="2340864"/>
            <a:ext cx="393192" cy="393192"/>
          </a:xfrm>
          <a:prstGeom prst="rect">
            <a:avLst/>
          </a:prstGeom>
        </p:spPr>
      </p:pic>
      <p:sp>
        <p:nvSpPr>
          <p:cNvPr id="13" name="Text 9"/>
          <p:cNvSpPr/>
          <p:nvPr/>
        </p:nvSpPr>
        <p:spPr>
          <a:xfrm>
            <a:off x="4609948" y="3108960"/>
            <a:ext cx="2971800" cy="411480"/>
          </a:xfrm>
          <a:prstGeom prst="rect">
            <a:avLst/>
          </a:prstGeom>
          <a:noFill/>
          <a:ln/>
        </p:spPr>
        <p:txBody>
          <a:bodyPr wrap="square" lIns="0" tIns="0" rIns="0" bIns="0" rtlCol="0" anchor="ctr"/>
          <a:lstStyle/>
          <a:p>
            <a:pPr marL="0" indent="0" algn="ctr">
              <a:buNone/>
            </a:pPr>
            <a:r>
              <a:rPr lang="en-US" sz="1500" b="1" dirty="0">
                <a:solidFill>
                  <a:srgbClr val="D4AF6A"/>
                </a:solidFill>
                <a:latin typeface="Cambria" pitchFamily="34" charset="0"/>
                <a:ea typeface="Cambria" pitchFamily="34" charset="-122"/>
                <a:cs typeface="Cambria" pitchFamily="34" charset="-120"/>
              </a:rPr>
              <a:t>Real AI integration</a:t>
            </a:r>
            <a:endParaRPr lang="en-US" sz="1500" dirty="0"/>
          </a:p>
        </p:txBody>
      </p:sp>
      <p:sp>
        <p:nvSpPr>
          <p:cNvPr id="14" name="Text 10"/>
          <p:cNvSpPr/>
          <p:nvPr/>
        </p:nvSpPr>
        <p:spPr>
          <a:xfrm>
            <a:off x="4655668" y="3566160"/>
            <a:ext cx="2880360" cy="868680"/>
          </a:xfrm>
          <a:prstGeom prst="rect">
            <a:avLst/>
          </a:prstGeom>
          <a:noFill/>
          <a:ln/>
        </p:spPr>
        <p:txBody>
          <a:bodyPr wrap="square" lIns="0" tIns="0" rIns="0" bIns="0" rtlCol="0" anchor="t"/>
          <a:lstStyle/>
          <a:p>
            <a:pPr marL="0" indent="0" algn="ctr">
              <a:lnSpc>
                <a:spcPct val="125000"/>
              </a:lnSpc>
              <a:buNone/>
            </a:pPr>
            <a:r>
              <a:rPr lang="en-US" sz="1100" dirty="0">
                <a:solidFill>
                  <a:srgbClr val="FFFFFF"/>
                </a:solidFill>
                <a:latin typeface="Calibri" pitchFamily="34" charset="0"/>
                <a:ea typeface="Calibri" pitchFamily="34" charset="-122"/>
                <a:cs typeface="Calibri" pitchFamily="34" charset="-120"/>
              </a:rPr>
              <a:t>Generative AI used for cleaning recommendations and insight generation</a:t>
            </a:r>
            <a:endParaRPr lang="en-US" sz="1100" dirty="0"/>
          </a:p>
        </p:txBody>
      </p:sp>
      <p:sp>
        <p:nvSpPr>
          <p:cNvPr id="15" name="Shape 11"/>
          <p:cNvSpPr/>
          <p:nvPr/>
        </p:nvSpPr>
        <p:spPr>
          <a:xfrm>
            <a:off x="8130388" y="1874520"/>
            <a:ext cx="3429000" cy="2651760"/>
          </a:xfrm>
          <a:prstGeom prst="roundRect">
            <a:avLst>
              <a:gd name="adj" fmla="val 3103"/>
            </a:avLst>
          </a:prstGeom>
          <a:solidFill>
            <a:srgbClr val="0D1C78"/>
          </a:solidFill>
          <a:ln/>
        </p:spPr>
      </p:sp>
      <p:sp>
        <p:nvSpPr>
          <p:cNvPr id="16" name="Shape 12"/>
          <p:cNvSpPr/>
          <p:nvPr/>
        </p:nvSpPr>
        <p:spPr>
          <a:xfrm>
            <a:off x="9501988" y="2194560"/>
            <a:ext cx="685800" cy="685800"/>
          </a:xfrm>
          <a:prstGeom prst="ellipse">
            <a:avLst/>
          </a:prstGeom>
          <a:solidFill>
            <a:srgbClr val="B48C36"/>
          </a:solidFill>
          <a:ln/>
        </p:spPr>
      </p:sp>
      <p:pic>
        <p:nvPicPr>
          <p:cNvPr id="17" name="Image 2" descr="icon_barchart_navy.png"/>
          <p:cNvPicPr>
            <a:picLocks noChangeAspect="1"/>
          </p:cNvPicPr>
          <p:nvPr/>
        </p:nvPicPr>
        <p:blipFill>
          <a:blip r:embed="rId5"/>
          <a:stretch>
            <a:fillRect/>
          </a:stretch>
        </p:blipFill>
        <p:spPr>
          <a:xfrm>
            <a:off x="9648292" y="2340864"/>
            <a:ext cx="393192" cy="393192"/>
          </a:xfrm>
          <a:prstGeom prst="rect">
            <a:avLst/>
          </a:prstGeom>
        </p:spPr>
      </p:pic>
      <p:sp>
        <p:nvSpPr>
          <p:cNvPr id="18" name="Text 13"/>
          <p:cNvSpPr/>
          <p:nvPr/>
        </p:nvSpPr>
        <p:spPr>
          <a:xfrm>
            <a:off x="8358988" y="3108960"/>
            <a:ext cx="2971800" cy="411480"/>
          </a:xfrm>
          <a:prstGeom prst="rect">
            <a:avLst/>
          </a:prstGeom>
          <a:noFill/>
          <a:ln/>
        </p:spPr>
        <p:txBody>
          <a:bodyPr wrap="square" lIns="0" tIns="0" rIns="0" bIns="0" rtlCol="0" anchor="ctr"/>
          <a:lstStyle/>
          <a:p>
            <a:pPr marL="0" indent="0" algn="ctr">
              <a:buNone/>
            </a:pPr>
            <a:r>
              <a:rPr lang="en-US" sz="1500" b="1" dirty="0">
                <a:solidFill>
                  <a:srgbClr val="D4AF6A"/>
                </a:solidFill>
                <a:latin typeface="Cambria" pitchFamily="34" charset="0"/>
                <a:ea typeface="Cambria" pitchFamily="34" charset="-122"/>
                <a:cs typeface="Cambria" pitchFamily="34" charset="-120"/>
              </a:rPr>
              <a:t>Strong storytelling</a:t>
            </a:r>
            <a:endParaRPr lang="en-US" sz="1500" dirty="0"/>
          </a:p>
        </p:txBody>
      </p:sp>
      <p:sp>
        <p:nvSpPr>
          <p:cNvPr id="19" name="Text 14"/>
          <p:cNvSpPr/>
          <p:nvPr/>
        </p:nvSpPr>
        <p:spPr>
          <a:xfrm>
            <a:off x="8404708" y="3566160"/>
            <a:ext cx="2880360" cy="868680"/>
          </a:xfrm>
          <a:prstGeom prst="rect">
            <a:avLst/>
          </a:prstGeom>
          <a:noFill/>
          <a:ln/>
        </p:spPr>
        <p:txBody>
          <a:bodyPr wrap="square" lIns="0" tIns="0" rIns="0" bIns="0" rtlCol="0" anchor="t"/>
          <a:lstStyle/>
          <a:p>
            <a:pPr marL="0" indent="0" algn="ctr">
              <a:lnSpc>
                <a:spcPct val="125000"/>
              </a:lnSpc>
              <a:buNone/>
            </a:pPr>
            <a:r>
              <a:rPr lang="en-US" sz="1100" dirty="0">
                <a:solidFill>
                  <a:srgbClr val="FFFFFF"/>
                </a:solidFill>
                <a:latin typeface="Calibri" pitchFamily="34" charset="0"/>
                <a:ea typeface="Calibri" pitchFamily="34" charset="-122"/>
                <a:cs typeface="Calibri" pitchFamily="34" charset="-120"/>
              </a:rPr>
              <a:t>Raw numbers translated into clear, decision-ready narratives</a:t>
            </a:r>
            <a:endParaRPr lang="en-US" sz="1100" dirty="0"/>
          </a:p>
        </p:txBody>
      </p:sp>
      <p:sp>
        <p:nvSpPr>
          <p:cNvPr id="20" name="Text 15"/>
          <p:cNvSpPr/>
          <p:nvPr/>
        </p:nvSpPr>
        <p:spPr>
          <a:xfrm>
            <a:off x="914400" y="5074920"/>
            <a:ext cx="10360152" cy="64008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Thank You</a:t>
            </a:r>
            <a:endParaRPr lang="en-US" sz="2600" dirty="0"/>
          </a:p>
        </p:txBody>
      </p:sp>
      <p:sp>
        <p:nvSpPr>
          <p:cNvPr id="21" name="Text 16"/>
          <p:cNvSpPr/>
          <p:nvPr/>
        </p:nvSpPr>
        <p:spPr>
          <a:xfrm>
            <a:off x="914400" y="5715000"/>
            <a:ext cx="10360152" cy="365760"/>
          </a:xfrm>
          <a:prstGeom prst="rect">
            <a:avLst/>
          </a:prstGeom>
          <a:noFill/>
          <a:ln/>
        </p:spPr>
        <p:txBody>
          <a:bodyPr wrap="square" lIns="0" tIns="0" rIns="0" bIns="0" rtlCol="0" anchor="ctr"/>
          <a:lstStyle/>
          <a:p>
            <a:pPr marL="0" indent="0" algn="ctr">
              <a:buNone/>
            </a:pPr>
            <a:r>
              <a:rPr lang="en-US" sz="1200" i="1" dirty="0">
                <a:solidFill>
                  <a:srgbClr val="9AA5D1"/>
                </a:solidFill>
                <a:latin typeface="Calibri" pitchFamily="34" charset="0"/>
                <a:ea typeface="Calibri" pitchFamily="34" charset="-122"/>
                <a:cs typeface="Calibri" pitchFamily="34" charset="-120"/>
              </a:rPr>
              <a:t>SmartHome Pricing Analytics — AI-Assisted Data Analytics Final Project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1092</Words>
  <Application>Microsoft Office PowerPoint</Application>
  <PresentationFormat>Widescreen</PresentationFormat>
  <Paragraphs>212</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Shahd Mohamed</cp:lastModifiedBy>
  <cp:revision>4</cp:revision>
  <dcterms:created xsi:type="dcterms:W3CDTF">2026-08-28T20:05:28Z</dcterms:created>
  <dcterms:modified xsi:type="dcterms:W3CDTF">2026-08-28T20:45:44Z</dcterms:modified>
</cp:coreProperties>
</file>